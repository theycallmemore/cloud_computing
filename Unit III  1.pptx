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56" r:id="rId3"/>
    <p:sldId id="257" r:id="rId4"/>
    <p:sldId id="258" r:id="rId5"/>
    <p:sldId id="259" r:id="rId6"/>
    <p:sldId id="260" r:id="rId7"/>
    <p:sldId id="261" r:id="rId8"/>
    <p:sldId id="262" r:id="rId9"/>
    <p:sldId id="263" r:id="rId10"/>
    <p:sldId id="264" r:id="rId11"/>
    <p:sldId id="265" r:id="rId12"/>
    <p:sldId id="268" r:id="rId13"/>
    <p:sldId id="267" r:id="rId14"/>
    <p:sldId id="283" r:id="rId15"/>
    <p:sldId id="269" r:id="rId16"/>
    <p:sldId id="270" r:id="rId17"/>
    <p:sldId id="271" r:id="rId18"/>
    <p:sldId id="272" r:id="rId19"/>
    <p:sldId id="274" r:id="rId20"/>
    <p:sldId id="276" r:id="rId21"/>
    <p:sldId id="282" r:id="rId22"/>
    <p:sldId id="280" r:id="rId23"/>
    <p:sldId id="281" r:id="rId24"/>
    <p:sldId id="277" r:id="rId25"/>
    <p:sldId id="284" r:id="rId26"/>
    <p:sldId id="285" r:id="rId27"/>
    <p:sldId id="286" r:id="rId28"/>
    <p:sldId id="278" r:id="rId29"/>
    <p:sldId id="279" r:id="rId30"/>
    <p:sldId id="275" r:id="rId31"/>
    <p:sldId id="287" r:id="rId32"/>
    <p:sldId id="288" r:id="rId33"/>
    <p:sldId id="290" r:id="rId34"/>
    <p:sldId id="291" r:id="rId35"/>
    <p:sldId id="289" r:id="rId36"/>
    <p:sldId id="292" r:id="rId37"/>
    <p:sldId id="293"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50"/>
            <a:ext cx="8229600" cy="1143000"/>
          </a:xfrm>
        </p:spPr>
        <p:txBody>
          <a:bodyPr/>
          <a:lstStyle/>
          <a:p>
            <a:r>
              <a:rPr lang="en-IN" b="1" dirty="0" smtClean="0"/>
              <a:t>Unit III</a:t>
            </a:r>
            <a:endParaRPr lang="en-IN" b="1" dirty="0"/>
          </a:p>
        </p:txBody>
      </p:sp>
      <p:sp>
        <p:nvSpPr>
          <p:cNvPr id="3" name="Content Placeholder 2"/>
          <p:cNvSpPr>
            <a:spLocks noGrp="1"/>
          </p:cNvSpPr>
          <p:nvPr>
            <p:ph idx="1"/>
          </p:nvPr>
        </p:nvSpPr>
        <p:spPr>
          <a:xfrm>
            <a:off x="471638" y="1080436"/>
            <a:ext cx="8229600" cy="4525963"/>
          </a:xfrm>
        </p:spPr>
        <p:txBody>
          <a:bodyPr/>
          <a:lstStyle/>
          <a:p>
            <a:pPr marL="0" indent="0" algn="ctr">
              <a:buNone/>
            </a:pPr>
            <a:r>
              <a:rPr lang="en-IN" dirty="0" smtClean="0"/>
              <a:t>Cloud </a:t>
            </a:r>
            <a:r>
              <a:rPr lang="en-IN" dirty="0"/>
              <a:t>Storage	</a:t>
            </a:r>
            <a:endParaRPr lang="en-IN" dirty="0" smtClean="0"/>
          </a:p>
          <a:p>
            <a:pPr marL="0" indent="0" algn="ctr">
              <a:buNone/>
            </a:pPr>
            <a:endParaRPr lang="en-IN"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632" y="1880450"/>
            <a:ext cx="8691612"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7555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Cloud Storage Types</a:t>
            </a:r>
          </a:p>
        </p:txBody>
      </p:sp>
      <p:sp>
        <p:nvSpPr>
          <p:cNvPr id="3" name="Content Placeholder 2"/>
          <p:cNvSpPr>
            <a:spLocks noGrp="1"/>
          </p:cNvSpPr>
          <p:nvPr>
            <p:ph idx="1"/>
          </p:nvPr>
        </p:nvSpPr>
        <p:spPr/>
        <p:txBody>
          <a:bodyPr/>
          <a:lstStyle/>
          <a:p>
            <a:r>
              <a:t>Object Storage and Block Storage</a:t>
            </a:r>
          </a:p>
          <a:p>
            <a:r>
              <a:t>Examples: AWS S3, Google Cloud Storage, AWS EBS, Azure Disk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Cloud Storage</a:t>
            </a:r>
          </a:p>
        </p:txBody>
      </p:sp>
      <p:sp>
        <p:nvSpPr>
          <p:cNvPr id="3" name="Content Placeholder 2"/>
          <p:cNvSpPr>
            <a:spLocks noGrp="1"/>
          </p:cNvSpPr>
          <p:nvPr>
            <p:ph idx="1"/>
          </p:nvPr>
        </p:nvSpPr>
        <p:spPr/>
        <p:txBody>
          <a:bodyPr/>
          <a:lstStyle/>
          <a:p>
            <a:r>
              <a:t>Cloud storage allows users to store data on remote servers.</a:t>
            </a:r>
          </a:p>
          <a:p>
            <a:r>
              <a:t>It provides scalability, reliability, and accessibility over the internet.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 Storage</a:t>
            </a:r>
          </a:p>
        </p:txBody>
      </p:sp>
      <p:sp>
        <p:nvSpPr>
          <p:cNvPr id="3" name="Content Placeholder 2"/>
          <p:cNvSpPr>
            <a:spLocks noGrp="1"/>
          </p:cNvSpPr>
          <p:nvPr>
            <p:ph idx="1"/>
          </p:nvPr>
        </p:nvSpPr>
        <p:spPr/>
        <p:txBody>
          <a:bodyPr/>
          <a:lstStyle/>
          <a:p>
            <a:r>
              <a:t>Stores data as objects.</a:t>
            </a:r>
          </a:p>
          <a:p>
            <a:r>
              <a:t>Each object contains data, metadata, and a unique ID.</a:t>
            </a:r>
          </a:p>
          <a:p>
            <a:r>
              <a:t>Used for unstructured data like images, videos, backups.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 of Object Storage</a:t>
            </a:r>
          </a:p>
        </p:txBody>
      </p:sp>
      <p:sp>
        <p:nvSpPr>
          <p:cNvPr id="3" name="Content Placeholder 2"/>
          <p:cNvSpPr>
            <a:spLocks noGrp="1"/>
          </p:cNvSpPr>
          <p:nvPr>
            <p:ph idx="1"/>
          </p:nvPr>
        </p:nvSpPr>
        <p:spPr/>
        <p:txBody>
          <a:bodyPr/>
          <a:lstStyle/>
          <a:p>
            <a:r>
              <a:t>AWS S3</a:t>
            </a:r>
          </a:p>
          <a:p>
            <a:r>
              <a:t>Google Cloud Storage</a:t>
            </a:r>
          </a:p>
          <a:p>
            <a:r>
              <a:t>Azure Blob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Object Storage</a:t>
            </a:r>
          </a:p>
        </p:txBody>
      </p:sp>
      <p:sp>
        <p:nvSpPr>
          <p:cNvPr id="3" name="Content Placeholder 2"/>
          <p:cNvSpPr>
            <a:spLocks noGrp="1"/>
          </p:cNvSpPr>
          <p:nvPr>
            <p:ph idx="1"/>
          </p:nvPr>
        </p:nvSpPr>
        <p:spPr/>
        <p:txBody>
          <a:bodyPr/>
          <a:lstStyle/>
          <a:p>
            <a:r>
              <a:t>Highly scalable</a:t>
            </a:r>
          </a:p>
          <a:p>
            <a:r>
              <a:t>Cost-effective</a:t>
            </a:r>
          </a:p>
          <a:p>
            <a:r>
              <a:t>Easy data access via APIs</a:t>
            </a:r>
          </a:p>
          <a:p>
            <a:r>
              <a:t>Ideal for big data and backup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Block Storage</a:t>
            </a:r>
          </a:p>
        </p:txBody>
      </p:sp>
      <p:sp>
        <p:nvSpPr>
          <p:cNvPr id="3" name="Content Placeholder 2"/>
          <p:cNvSpPr>
            <a:spLocks noGrp="1"/>
          </p:cNvSpPr>
          <p:nvPr>
            <p:ph idx="1"/>
          </p:nvPr>
        </p:nvSpPr>
        <p:spPr/>
        <p:txBody>
          <a:bodyPr/>
          <a:lstStyle/>
          <a:p>
            <a:r>
              <a:t>Stores data in fixed-size blocks.</a:t>
            </a:r>
          </a:p>
          <a:p>
            <a:r>
              <a:t>Each block acts like a hard drive sector.</a:t>
            </a:r>
          </a:p>
          <a:p>
            <a:r>
              <a:t>Used for databases, virtual machines, and enterprise apps.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 of Block Storage</a:t>
            </a:r>
          </a:p>
        </p:txBody>
      </p:sp>
      <p:sp>
        <p:nvSpPr>
          <p:cNvPr id="3" name="Content Placeholder 2"/>
          <p:cNvSpPr>
            <a:spLocks noGrp="1"/>
          </p:cNvSpPr>
          <p:nvPr>
            <p:ph idx="1"/>
          </p:nvPr>
        </p:nvSpPr>
        <p:spPr/>
        <p:txBody>
          <a:bodyPr/>
          <a:lstStyle/>
          <a:p>
            <a:r>
              <a:t>AWS Elastic Block Store (EBS)</a:t>
            </a:r>
          </a:p>
          <a:p>
            <a:r>
              <a:t>Azure Disk Storage</a:t>
            </a:r>
          </a:p>
          <a:p>
            <a:r>
              <a:t>Google Persistent Disk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Block Storage</a:t>
            </a:r>
          </a:p>
        </p:txBody>
      </p:sp>
      <p:sp>
        <p:nvSpPr>
          <p:cNvPr id="3" name="Content Placeholder 2"/>
          <p:cNvSpPr>
            <a:spLocks noGrp="1"/>
          </p:cNvSpPr>
          <p:nvPr>
            <p:ph idx="1"/>
          </p:nvPr>
        </p:nvSpPr>
        <p:spPr/>
        <p:txBody>
          <a:bodyPr/>
          <a:lstStyle/>
          <a:p>
            <a:r>
              <a:t>High performance</a:t>
            </a:r>
          </a:p>
          <a:p>
            <a:r>
              <a:t>Low latency</a:t>
            </a:r>
          </a:p>
          <a:p>
            <a:r>
              <a:t>Suitable for transactional applications</a:t>
            </a:r>
          </a:p>
          <a:p>
            <a:r>
              <a:t>Efficient for operating systems and databases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 Storage vs Block Storage</a:t>
            </a:r>
          </a:p>
        </p:txBody>
      </p:sp>
      <p:sp>
        <p:nvSpPr>
          <p:cNvPr id="3" name="Content Placeholder 2"/>
          <p:cNvSpPr>
            <a:spLocks noGrp="1"/>
          </p:cNvSpPr>
          <p:nvPr>
            <p:ph idx="1"/>
          </p:nvPr>
        </p:nvSpPr>
        <p:spPr/>
        <p:txBody>
          <a:bodyPr/>
          <a:lstStyle/>
          <a:p>
            <a:r>
              <a:t>Object Storage: Used for large unstructured data.</a:t>
            </a:r>
          </a:p>
          <a:p>
            <a:r>
              <a:t>Block Storage: Used for high performance applications.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Azure Storage Services</a:t>
            </a:r>
            <a:endParaRPr dirty="0"/>
          </a:p>
        </p:txBody>
      </p:sp>
      <p:sp>
        <p:nvSpPr>
          <p:cNvPr id="3" name="Content Placeholder 2"/>
          <p:cNvSpPr>
            <a:spLocks noGrp="1"/>
          </p:cNvSpPr>
          <p:nvPr>
            <p:ph idx="1"/>
          </p:nvPr>
        </p:nvSpPr>
        <p:spPr>
          <a:xfrm>
            <a:off x="457200" y="1600200"/>
            <a:ext cx="8431967" cy="4525963"/>
          </a:xfrm>
        </p:spPr>
        <p:txBody>
          <a:bodyPr>
            <a:normAutofit fontScale="77500" lnSpcReduction="20000"/>
          </a:bodyPr>
          <a:lstStyle/>
          <a:p>
            <a:pPr marL="514350" indent="-514350">
              <a:buFont typeface="+mj-lt"/>
              <a:buAutoNum type="arabicPeriod"/>
            </a:pPr>
            <a:r>
              <a:rPr lang="en-IN" dirty="0" smtClean="0"/>
              <a:t>Blob </a:t>
            </a:r>
            <a:r>
              <a:rPr dirty="0" smtClean="0"/>
              <a:t>storage</a:t>
            </a:r>
            <a:r>
              <a:rPr lang="en-IN" dirty="0" smtClean="0"/>
              <a:t>: Stores the unstructured data like images , videos and large files.</a:t>
            </a:r>
          </a:p>
          <a:p>
            <a:pPr marL="0" lvl="1" indent="0">
              <a:buNone/>
            </a:pPr>
            <a:r>
              <a:rPr lang="en-US" dirty="0" smtClean="0"/>
              <a:t>	E.G </a:t>
            </a:r>
            <a:r>
              <a:rPr lang="en-US" dirty="0"/>
              <a:t>: A media company storing high resolution videos </a:t>
            </a:r>
            <a:r>
              <a:rPr lang="en-US" dirty="0" smtClean="0"/>
              <a:t>for streaming</a:t>
            </a:r>
            <a:endParaRPr lang="en-US" dirty="0"/>
          </a:p>
          <a:p>
            <a:pPr marL="514350" indent="-514350">
              <a:buFont typeface="+mj-lt"/>
              <a:buAutoNum type="arabicPeriod"/>
            </a:pPr>
            <a:r>
              <a:rPr lang="en-IN" dirty="0" smtClean="0"/>
              <a:t>File storage: Provides fully managed shared file storage in the cloud.</a:t>
            </a:r>
          </a:p>
          <a:p>
            <a:pPr marL="400050" lvl="1" indent="0">
              <a:buNone/>
            </a:pPr>
            <a:r>
              <a:rPr lang="en-IN" dirty="0" smtClean="0"/>
              <a:t>E.G : A team sharing storage file across multiple offices</a:t>
            </a:r>
            <a:endParaRPr dirty="0"/>
          </a:p>
          <a:p>
            <a:pPr marL="514350" indent="-514350">
              <a:buFont typeface="+mj-lt"/>
              <a:buAutoNum type="arabicPeriod"/>
            </a:pPr>
            <a:r>
              <a:rPr lang="en-IN" dirty="0" smtClean="0"/>
              <a:t>Queue</a:t>
            </a:r>
            <a:r>
              <a:rPr dirty="0" smtClean="0"/>
              <a:t> storage</a:t>
            </a:r>
            <a:r>
              <a:rPr lang="en-IN" dirty="0" smtClean="0"/>
              <a:t>:manages message queue for asynchronous communication.</a:t>
            </a:r>
          </a:p>
          <a:p>
            <a:pPr marL="0" lvl="1" indent="0">
              <a:buNone/>
            </a:pPr>
            <a:r>
              <a:rPr lang="en-IN" dirty="0"/>
              <a:t>	</a:t>
            </a:r>
            <a:r>
              <a:rPr lang="en-IN" dirty="0" smtClean="0"/>
              <a:t> </a:t>
            </a:r>
            <a:r>
              <a:rPr lang="en-US" dirty="0"/>
              <a:t>E.G : </a:t>
            </a:r>
            <a:r>
              <a:rPr lang="en-US" dirty="0" smtClean="0"/>
              <a:t>A ride hailing app queuing  customer request for processing</a:t>
            </a:r>
          </a:p>
          <a:p>
            <a:pPr marL="514350" lvl="1" indent="-514350">
              <a:buFont typeface="+mj-lt"/>
              <a:buAutoNum type="arabicPeriod" startAt="4"/>
            </a:pPr>
            <a:r>
              <a:rPr lang="en-US" dirty="0" smtClean="0"/>
              <a:t>Table storage: Stores structured </a:t>
            </a:r>
            <a:r>
              <a:rPr lang="en-US" dirty="0" err="1" smtClean="0"/>
              <a:t>NnSQL</a:t>
            </a:r>
            <a:r>
              <a:rPr lang="en-US" dirty="0" smtClean="0"/>
              <a:t> data</a:t>
            </a:r>
          </a:p>
          <a:p>
            <a:pPr marL="0" lvl="1" indent="0">
              <a:buNone/>
            </a:pPr>
            <a:r>
              <a:rPr lang="en-US" dirty="0"/>
              <a:t>	</a:t>
            </a:r>
            <a:r>
              <a:rPr lang="en-US" dirty="0" smtClean="0"/>
              <a:t>e.g. : An </a:t>
            </a:r>
            <a:r>
              <a:rPr lang="en-US" dirty="0" err="1" smtClean="0"/>
              <a:t>IoT</a:t>
            </a:r>
            <a:r>
              <a:rPr lang="en-US" dirty="0" smtClean="0"/>
              <a:t> system storing telemetry data from devices.</a:t>
            </a:r>
          </a:p>
          <a:p>
            <a:pPr marL="514350" lvl="1" indent="-514350">
              <a:buFont typeface="+mj-lt"/>
              <a:buAutoNum type="arabicPeriod" startAt="4"/>
            </a:pPr>
            <a:r>
              <a:rPr lang="en-US" dirty="0" smtClean="0"/>
              <a:t>Disk Storage:  Provide virtual hard drives for VMs</a:t>
            </a:r>
          </a:p>
          <a:p>
            <a:pPr marL="0" lvl="1" indent="0">
              <a:buNone/>
            </a:pPr>
            <a:r>
              <a:rPr lang="en-US" dirty="0"/>
              <a:t>	</a:t>
            </a:r>
            <a:r>
              <a:rPr lang="en-US" dirty="0" smtClean="0"/>
              <a:t>e.g.: A financial company running databases on Azure VMs</a:t>
            </a:r>
            <a:endParaRPr lang="en-US" dirty="0"/>
          </a:p>
          <a:p>
            <a:pPr marL="0" indent="0">
              <a:buNone/>
            </a:pPr>
            <a:endParaRPr lang="en-IN" dirty="0" smtClean="0"/>
          </a:p>
          <a:p>
            <a:pPr marL="514350" indent="-514350">
              <a:buFont typeface="+mj-lt"/>
              <a:buAutoNum type="arabicPeriod"/>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Azure Storage Tiers</a:t>
            </a:r>
            <a:endParaRPr dirty="0"/>
          </a:p>
        </p:txBody>
      </p:sp>
      <p:sp>
        <p:nvSpPr>
          <p:cNvPr id="3" name="Content Placeholder 2"/>
          <p:cNvSpPr>
            <a:spLocks noGrp="1"/>
          </p:cNvSpPr>
          <p:nvPr>
            <p:ph idx="1"/>
          </p:nvPr>
        </p:nvSpPr>
        <p:spPr>
          <a:xfrm>
            <a:off x="457200" y="1600200"/>
            <a:ext cx="8431967" cy="4525963"/>
          </a:xfrm>
        </p:spPr>
        <p:txBody>
          <a:bodyPr>
            <a:normAutofit fontScale="85000" lnSpcReduction="10000"/>
          </a:bodyPr>
          <a:lstStyle/>
          <a:p>
            <a:r>
              <a:rPr lang="en-IN" dirty="0" smtClean="0"/>
              <a:t>Azure provides different tiers to optimize storage cost </a:t>
            </a:r>
          </a:p>
          <a:p>
            <a:r>
              <a:rPr lang="en-IN" dirty="0" smtClean="0"/>
              <a:t>Hot Tier: For frequently accessed data.</a:t>
            </a:r>
          </a:p>
          <a:p>
            <a:pPr marL="0" indent="0">
              <a:buNone/>
            </a:pPr>
            <a:r>
              <a:rPr lang="en-IN" dirty="0"/>
              <a:t>	</a:t>
            </a:r>
            <a:r>
              <a:rPr lang="en-IN" dirty="0" smtClean="0"/>
              <a:t>e.g. : A </a:t>
            </a:r>
            <a:r>
              <a:rPr lang="en-IN" dirty="0" err="1" smtClean="0"/>
              <a:t>SaaS</a:t>
            </a:r>
            <a:r>
              <a:rPr lang="en-IN" dirty="0" smtClean="0"/>
              <a:t> app storing user activity logs for quick analysis</a:t>
            </a:r>
          </a:p>
          <a:p>
            <a:r>
              <a:rPr lang="en-IN" dirty="0" smtClean="0"/>
              <a:t>Cool Tier</a:t>
            </a:r>
            <a:r>
              <a:rPr lang="en-IN" dirty="0"/>
              <a:t>: For </a:t>
            </a:r>
            <a:r>
              <a:rPr lang="en-IN" dirty="0" smtClean="0"/>
              <a:t>infrequently </a:t>
            </a:r>
            <a:r>
              <a:rPr lang="en-IN" dirty="0"/>
              <a:t>accessed data</a:t>
            </a:r>
            <a:r>
              <a:rPr lang="en-IN" dirty="0" smtClean="0"/>
              <a:t>.</a:t>
            </a:r>
          </a:p>
          <a:p>
            <a:pPr marL="0" indent="0">
              <a:buNone/>
            </a:pPr>
            <a:r>
              <a:rPr lang="en-IN" dirty="0" smtClean="0"/>
              <a:t>	e.g</a:t>
            </a:r>
            <a:r>
              <a:rPr lang="en-IN" dirty="0"/>
              <a:t>. : </a:t>
            </a:r>
            <a:r>
              <a:rPr lang="en-IN" dirty="0" smtClean="0"/>
              <a:t>Archiving marketing </a:t>
            </a:r>
            <a:r>
              <a:rPr lang="en-IN" dirty="0" err="1" smtClean="0"/>
              <a:t>campaigh</a:t>
            </a:r>
            <a:r>
              <a:rPr lang="en-IN" dirty="0" smtClean="0"/>
              <a:t> data accessed </a:t>
            </a:r>
            <a:r>
              <a:rPr lang="en-IN" dirty="0" err="1" smtClean="0"/>
              <a:t>quaterly</a:t>
            </a:r>
            <a:endParaRPr lang="en-IN" dirty="0"/>
          </a:p>
          <a:p>
            <a:r>
              <a:rPr lang="en-IN" dirty="0" smtClean="0"/>
              <a:t>Archive Tier: for rarely accessed data (long-term storage)</a:t>
            </a:r>
          </a:p>
          <a:p>
            <a:pPr marL="0" indent="0">
              <a:buNone/>
            </a:pPr>
            <a:r>
              <a:rPr lang="en-IN" dirty="0"/>
              <a:t>	</a:t>
            </a:r>
            <a:r>
              <a:rPr lang="en-IN" dirty="0" smtClean="0"/>
              <a:t>e.g. : </a:t>
            </a:r>
            <a:r>
              <a:rPr lang="en-IN" dirty="0" err="1" smtClean="0"/>
              <a:t>Storingcompliance</a:t>
            </a:r>
            <a:r>
              <a:rPr lang="en-IN" dirty="0" smtClean="0"/>
              <a:t> –related documents for </a:t>
            </a:r>
            <a:r>
              <a:rPr lang="en-IN" smtClean="0"/>
              <a:t>7+ years</a:t>
            </a:r>
            <a:endParaRPr lang="en-IN" dirty="0"/>
          </a:p>
          <a:p>
            <a:endParaRPr lang="en-IN" dirty="0" smtClean="0"/>
          </a:p>
          <a:p>
            <a:pPr marL="514350" indent="-514350">
              <a:buFont typeface="+mj-lt"/>
              <a:buAutoNum type="arabicPeriod"/>
            </a:pPr>
            <a:endParaRPr dirty="0"/>
          </a:p>
        </p:txBody>
      </p:sp>
    </p:spTree>
    <p:extLst>
      <p:ext uri="{BB962C8B-B14F-4D97-AF65-F5344CB8AC3E}">
        <p14:creationId xmlns:p14="http://schemas.microsoft.com/office/powerpoint/2010/main" val="343501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Object storage is best for scalable data storage.</a:t>
            </a:r>
          </a:p>
          <a:p>
            <a:r>
              <a:t>Block storage is best for performance-intensive applications.</a:t>
            </a:r>
          </a:p>
        </p:txBody>
      </p:sp>
    </p:spTree>
    <p:extLst>
      <p:ext uri="{BB962C8B-B14F-4D97-AF65-F5344CB8AC3E}">
        <p14:creationId xmlns:p14="http://schemas.microsoft.com/office/powerpoint/2010/main" val="2394559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487"/>
            <a:ext cx="9066998" cy="678256"/>
          </a:xfrm>
        </p:spPr>
        <p:txBody>
          <a:bodyPr>
            <a:normAutofit/>
          </a:bodyPr>
          <a:lstStyle/>
          <a:p>
            <a:r>
              <a:rPr lang="en-US" sz="3600" b="1" dirty="0"/>
              <a:t>What is Data Backup and Disaster Recovery</a:t>
            </a:r>
            <a:r>
              <a:rPr lang="en-US" sz="3600" b="1" dirty="0" smtClean="0"/>
              <a:t>?</a:t>
            </a:r>
            <a:endParaRPr lang="en-IN" sz="3600" dirty="0"/>
          </a:p>
        </p:txBody>
      </p:sp>
      <p:sp>
        <p:nvSpPr>
          <p:cNvPr id="3" name="Content Placeholder 2"/>
          <p:cNvSpPr>
            <a:spLocks noGrp="1"/>
          </p:cNvSpPr>
          <p:nvPr>
            <p:ph idx="1"/>
          </p:nvPr>
        </p:nvSpPr>
        <p:spPr>
          <a:xfrm>
            <a:off x="226193" y="567893"/>
            <a:ext cx="8744551" cy="6217917"/>
          </a:xfrm>
        </p:spPr>
        <p:txBody>
          <a:bodyPr>
            <a:noAutofit/>
          </a:bodyPr>
          <a:lstStyle/>
          <a:p>
            <a:pPr marL="0" indent="0" algn="just" fontAlgn="base">
              <a:buNone/>
            </a:pPr>
            <a:r>
              <a:rPr lang="en-US" sz="2400" b="1" dirty="0"/>
              <a:t>Data Backup </a:t>
            </a:r>
            <a:r>
              <a:rPr lang="en-US" sz="2400" dirty="0"/>
              <a:t>involves creating secure copies of important files and storing them on separate or remote systems, </a:t>
            </a:r>
            <a:endParaRPr lang="en-US" sz="2400" dirty="0" smtClean="0"/>
          </a:p>
          <a:p>
            <a:pPr marL="0" indent="0" algn="just" fontAlgn="base">
              <a:buNone/>
            </a:pPr>
            <a:r>
              <a:rPr lang="en-US" sz="2400" dirty="0" smtClean="0"/>
              <a:t>while </a:t>
            </a:r>
            <a:r>
              <a:rPr lang="en-US" sz="2400" b="1" dirty="0"/>
              <a:t>Disaster Recovery </a:t>
            </a:r>
            <a:r>
              <a:rPr lang="en-US" sz="2400" dirty="0"/>
              <a:t>focuses on restoring those files and maintaining business continuity after an incident. </a:t>
            </a:r>
            <a:endParaRPr lang="en-US" sz="2400" dirty="0" smtClean="0"/>
          </a:p>
          <a:p>
            <a:pPr marL="0" indent="0" algn="just" fontAlgn="base">
              <a:buNone/>
            </a:pPr>
            <a:r>
              <a:rPr lang="en-US" sz="2400" dirty="0" smtClean="0"/>
              <a:t>With </a:t>
            </a:r>
            <a:r>
              <a:rPr lang="en-US" sz="2400" dirty="0"/>
              <a:t>cloud computing, </a:t>
            </a:r>
            <a:r>
              <a:rPr lang="en-US" sz="2400" b="1" dirty="0"/>
              <a:t>backup and recovery</a:t>
            </a:r>
            <a:r>
              <a:rPr lang="en-US" sz="2400" dirty="0"/>
              <a:t> have shifted to automated, scalable, and resilient solutions, helping organizations minimize downtime. </a:t>
            </a:r>
            <a:endParaRPr lang="en-US" sz="2400" dirty="0" smtClean="0"/>
          </a:p>
          <a:p>
            <a:pPr marL="0" indent="0" algn="just" fontAlgn="base">
              <a:buNone/>
            </a:pPr>
            <a:r>
              <a:rPr lang="en-US" sz="2400" dirty="0" smtClean="0"/>
              <a:t>Notable </a:t>
            </a:r>
            <a:r>
              <a:rPr lang="en-US" sz="2400" dirty="0"/>
              <a:t>service providers include:</a:t>
            </a:r>
          </a:p>
          <a:p>
            <a:pPr algn="just" fontAlgn="base"/>
            <a:r>
              <a:rPr lang="en-US" sz="2200" b="1" dirty="0"/>
              <a:t>AWS Backup:</a:t>
            </a:r>
            <a:r>
              <a:rPr lang="en-US" sz="2200" dirty="0"/>
              <a:t> Automated, centralized backups with replication and IAM </a:t>
            </a:r>
            <a:r>
              <a:rPr lang="en-US" sz="2200" dirty="0" smtClean="0"/>
              <a:t>control (</a:t>
            </a:r>
            <a:r>
              <a:rPr lang="en-US" sz="2400" dirty="0"/>
              <a:t>Identity and Access Management </a:t>
            </a:r>
            <a:r>
              <a:rPr lang="en-US" sz="2200" dirty="0" smtClean="0"/>
              <a:t>).</a:t>
            </a:r>
            <a:endParaRPr lang="en-US" sz="2200" dirty="0"/>
          </a:p>
          <a:p>
            <a:pPr algn="just" fontAlgn="base"/>
            <a:r>
              <a:rPr lang="en-US" sz="2200" b="1" dirty="0"/>
              <a:t>Azure Backup:</a:t>
            </a:r>
            <a:r>
              <a:rPr lang="en-US" sz="2200" dirty="0"/>
              <a:t> Secures workloads with encryption, retention, and recovery integration.</a:t>
            </a:r>
          </a:p>
          <a:p>
            <a:pPr algn="just" fontAlgn="base"/>
            <a:r>
              <a:rPr lang="en-US" sz="2200" b="1" dirty="0"/>
              <a:t>Google Cloud Storage:</a:t>
            </a:r>
            <a:r>
              <a:rPr lang="en-US" sz="2200" dirty="0"/>
              <a:t> Scalable, geo-redundant storage with versioning and lifecycle tools.</a:t>
            </a:r>
          </a:p>
          <a:p>
            <a:pPr algn="just" fontAlgn="base"/>
            <a:r>
              <a:rPr lang="en-US" sz="2200" b="1" dirty="0"/>
              <a:t>IBM Cloud Backup:</a:t>
            </a:r>
            <a:r>
              <a:rPr lang="en-US" sz="2200" dirty="0"/>
              <a:t> Flexible, encrypted backups with retention and disaster recovery support.</a:t>
            </a:r>
          </a:p>
          <a:p>
            <a:pPr algn="just"/>
            <a:endParaRPr lang="en-IN" sz="2400" dirty="0"/>
          </a:p>
        </p:txBody>
      </p:sp>
    </p:spTree>
    <p:extLst>
      <p:ext uri="{BB962C8B-B14F-4D97-AF65-F5344CB8AC3E}">
        <p14:creationId xmlns:p14="http://schemas.microsoft.com/office/powerpoint/2010/main" val="3872607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8388"/>
            <a:ext cx="8229600" cy="745637"/>
          </a:xfrm>
        </p:spPr>
        <p:txBody>
          <a:bodyPr>
            <a:noAutofit/>
          </a:bodyPr>
          <a:lstStyle/>
          <a:p>
            <a:r>
              <a:rPr lang="en-US" sz="4800" b="1" dirty="0"/>
              <a:t>What is Backup?</a:t>
            </a:r>
            <a:endParaRPr lang="en-US" sz="4800" b="1" dirty="0"/>
          </a:p>
        </p:txBody>
      </p:sp>
      <p:sp>
        <p:nvSpPr>
          <p:cNvPr id="3" name="Content Placeholder 2"/>
          <p:cNvSpPr>
            <a:spLocks noGrp="1"/>
          </p:cNvSpPr>
          <p:nvPr>
            <p:ph idx="1"/>
          </p:nvPr>
        </p:nvSpPr>
        <p:spPr>
          <a:xfrm>
            <a:off x="332072" y="1166018"/>
            <a:ext cx="8229600" cy="4525963"/>
          </a:xfrm>
        </p:spPr>
        <p:txBody>
          <a:bodyPr>
            <a:normAutofit fontScale="85000" lnSpcReduction="20000"/>
          </a:bodyPr>
          <a:lstStyle/>
          <a:p>
            <a:pPr algn="just"/>
            <a:r>
              <a:rPr lang="en-US" dirty="0" smtClean="0"/>
              <a:t>Backup </a:t>
            </a:r>
            <a:r>
              <a:rPr lang="en-US" dirty="0"/>
              <a:t>is a </a:t>
            </a:r>
            <a:r>
              <a:rPr lang="en-US" b="1" dirty="0"/>
              <a:t>duplicate copy of important information</a:t>
            </a:r>
            <a:r>
              <a:rPr lang="en-US" dirty="0"/>
              <a:t>, including physical (paper) and computer records.</a:t>
            </a:r>
          </a:p>
          <a:p>
            <a:pPr algn="just"/>
            <a:r>
              <a:rPr lang="en-US" dirty="0"/>
              <a:t>A good backup procedure ensures that </a:t>
            </a:r>
            <a:r>
              <a:rPr lang="en-US" b="1" dirty="0"/>
              <a:t>data is protected and can be restored when needed</a:t>
            </a:r>
            <a:r>
              <a:rPr lang="en-US" dirty="0"/>
              <a:t>.</a:t>
            </a:r>
          </a:p>
          <a:p>
            <a:pPr algn="just"/>
            <a:r>
              <a:rPr lang="en-US" dirty="0"/>
              <a:t>Data that should be backed up regularly includes:</a:t>
            </a:r>
          </a:p>
          <a:p>
            <a:pPr lvl="1" algn="just"/>
            <a:r>
              <a:rPr lang="en-US" dirty="0"/>
              <a:t>Email correspondence</a:t>
            </a:r>
          </a:p>
          <a:p>
            <a:pPr lvl="1" algn="just"/>
            <a:r>
              <a:rPr lang="en-US" dirty="0"/>
              <a:t>Audit files</a:t>
            </a:r>
          </a:p>
          <a:p>
            <a:pPr lvl="1" algn="just"/>
            <a:r>
              <a:rPr lang="en-US" dirty="0"/>
              <a:t>User information</a:t>
            </a:r>
          </a:p>
          <a:p>
            <a:pPr lvl="1" algn="just"/>
            <a:r>
              <a:rPr lang="en-US" dirty="0"/>
              <a:t>Utilities and applications</a:t>
            </a:r>
          </a:p>
          <a:p>
            <a:pPr lvl="1" algn="just"/>
            <a:r>
              <a:rPr lang="en-US" dirty="0"/>
              <a:t>Operating systems</a:t>
            </a:r>
          </a:p>
          <a:p>
            <a:pPr lvl="1" algn="just"/>
            <a:r>
              <a:rPr lang="en-US" dirty="0"/>
              <a:t>Financial data and databases</a:t>
            </a:r>
          </a:p>
          <a:p>
            <a:pPr lvl="1" algn="just"/>
            <a:r>
              <a:rPr lang="en-US" dirty="0"/>
              <a:t>Customer lists</a:t>
            </a:r>
          </a:p>
        </p:txBody>
      </p:sp>
    </p:spTree>
    <p:extLst>
      <p:ext uri="{BB962C8B-B14F-4D97-AF65-F5344CB8AC3E}">
        <p14:creationId xmlns:p14="http://schemas.microsoft.com/office/powerpoint/2010/main" val="2296153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126"/>
            <a:ext cx="8229600" cy="750771"/>
          </a:xfrm>
        </p:spPr>
        <p:txBody>
          <a:bodyPr>
            <a:normAutofit fontScale="90000"/>
          </a:bodyPr>
          <a:lstStyle/>
          <a:p>
            <a:r>
              <a:rPr lang="en-US" b="1" dirty="0"/>
              <a:t>Data Backup and Recovery </a:t>
            </a:r>
            <a:r>
              <a:rPr lang="en-US" b="1" dirty="0" smtClean="0"/>
              <a:t>Plan</a:t>
            </a:r>
            <a:endParaRPr lang="en-IN" dirty="0"/>
          </a:p>
        </p:txBody>
      </p:sp>
      <p:sp>
        <p:nvSpPr>
          <p:cNvPr id="3" name="Content Placeholder 2"/>
          <p:cNvSpPr>
            <a:spLocks noGrp="1"/>
          </p:cNvSpPr>
          <p:nvPr>
            <p:ph idx="1"/>
          </p:nvPr>
        </p:nvSpPr>
        <p:spPr>
          <a:xfrm>
            <a:off x="173255" y="656929"/>
            <a:ext cx="8807115" cy="5734250"/>
          </a:xfrm>
        </p:spPr>
        <p:txBody>
          <a:bodyPr>
            <a:noAutofit/>
          </a:bodyPr>
          <a:lstStyle/>
          <a:p>
            <a:pPr marL="0" indent="0" algn="just">
              <a:buNone/>
            </a:pPr>
            <a:r>
              <a:rPr lang="en-US" sz="2100" dirty="0" smtClean="0"/>
              <a:t>Factors </a:t>
            </a:r>
            <a:r>
              <a:rPr lang="en-US" sz="2100" dirty="0"/>
              <a:t>to consider when creating a backup and recovery plan:</a:t>
            </a:r>
          </a:p>
          <a:p>
            <a:pPr marL="0" indent="0" algn="just">
              <a:buNone/>
            </a:pPr>
            <a:r>
              <a:rPr lang="en-US" sz="2100" b="1" dirty="0"/>
              <a:t>1. Schedule of </a:t>
            </a:r>
            <a:r>
              <a:rPr lang="en-US" sz="2100" b="1" dirty="0" smtClean="0"/>
              <a:t>Backup: </a:t>
            </a:r>
            <a:r>
              <a:rPr lang="en-US" sz="2100" dirty="0" smtClean="0"/>
              <a:t>Backing </a:t>
            </a:r>
            <a:r>
              <a:rPr lang="en-US" sz="2100" dirty="0"/>
              <a:t>up data should be done at </a:t>
            </a:r>
            <a:r>
              <a:rPr lang="en-US" sz="2100" b="1" dirty="0"/>
              <a:t>convenient and scheduled times</a:t>
            </a:r>
            <a:r>
              <a:rPr lang="en-US" sz="2100" dirty="0"/>
              <a:t>.</a:t>
            </a:r>
          </a:p>
          <a:p>
            <a:pPr marL="0" indent="0" algn="just">
              <a:buNone/>
            </a:pPr>
            <a:r>
              <a:rPr lang="en-US" sz="2100" b="1" dirty="0"/>
              <a:t>2. Location of Backup </a:t>
            </a:r>
            <a:r>
              <a:rPr lang="en-US" sz="2100" b="1" dirty="0" smtClean="0"/>
              <a:t>Storage: </a:t>
            </a:r>
            <a:r>
              <a:rPr lang="en-US" sz="2100" dirty="0" smtClean="0"/>
              <a:t>It </a:t>
            </a:r>
            <a:r>
              <a:rPr lang="en-US" sz="2100" dirty="0"/>
              <a:t>is recommended that </a:t>
            </a:r>
            <a:r>
              <a:rPr lang="en-US" sz="2100" b="1" dirty="0"/>
              <a:t>another copy of backup data is stored remotely</a:t>
            </a:r>
            <a:r>
              <a:rPr lang="en-US" sz="2100" dirty="0"/>
              <a:t> in case of disasters </a:t>
            </a:r>
            <a:r>
              <a:rPr lang="en-US" sz="2100" dirty="0" smtClean="0"/>
              <a:t>like: Fire, Flood, System </a:t>
            </a:r>
            <a:r>
              <a:rPr lang="en-US" sz="2100" dirty="0"/>
              <a:t>damage</a:t>
            </a:r>
          </a:p>
          <a:p>
            <a:pPr marL="0" indent="0" algn="just">
              <a:buNone/>
            </a:pPr>
            <a:r>
              <a:rPr lang="en-US" sz="2100" b="1" dirty="0"/>
              <a:t>3. Data Backup </a:t>
            </a:r>
            <a:r>
              <a:rPr lang="en-US" sz="2100" b="1" dirty="0" smtClean="0"/>
              <a:t>Contents : </a:t>
            </a:r>
            <a:r>
              <a:rPr lang="en-US" sz="2100" dirty="0" smtClean="0"/>
              <a:t>This </a:t>
            </a:r>
            <a:r>
              <a:rPr lang="en-US" sz="2100" dirty="0"/>
              <a:t>helps determine:</a:t>
            </a:r>
          </a:p>
          <a:p>
            <a:pPr marL="457200" lvl="1" indent="0" algn="just">
              <a:buNone/>
            </a:pPr>
            <a:r>
              <a:rPr lang="en-US" sz="1600" dirty="0"/>
              <a:t>What data should be backed up</a:t>
            </a:r>
          </a:p>
          <a:p>
            <a:pPr marL="457200" lvl="1" indent="0" algn="just">
              <a:buNone/>
            </a:pPr>
            <a:r>
              <a:rPr lang="en-US" sz="1600" dirty="0"/>
              <a:t>How it should be backed up</a:t>
            </a:r>
          </a:p>
          <a:p>
            <a:pPr marL="457200" lvl="1" indent="0" algn="just">
              <a:buNone/>
            </a:pPr>
            <a:r>
              <a:rPr lang="en-US" sz="1600" dirty="0"/>
              <a:t>When it should be backed up</a:t>
            </a:r>
          </a:p>
          <a:p>
            <a:pPr marL="0" indent="0" algn="just">
              <a:buNone/>
            </a:pPr>
            <a:r>
              <a:rPr lang="en-US" sz="2100" b="1" dirty="0"/>
              <a:t>4. Frequency of </a:t>
            </a:r>
            <a:r>
              <a:rPr lang="en-US" sz="2100" b="1" dirty="0" smtClean="0"/>
              <a:t>Backup : </a:t>
            </a:r>
            <a:r>
              <a:rPr lang="en-US" sz="2100" dirty="0" smtClean="0"/>
              <a:t>The </a:t>
            </a:r>
            <a:r>
              <a:rPr lang="en-US" sz="2100" dirty="0"/>
              <a:t>frequency depends on </a:t>
            </a:r>
            <a:r>
              <a:rPr lang="en-US" sz="2100" b="1" dirty="0"/>
              <a:t>how often data changes</a:t>
            </a:r>
            <a:r>
              <a:rPr lang="en-US" sz="2100" dirty="0"/>
              <a:t>.</a:t>
            </a:r>
          </a:p>
          <a:p>
            <a:pPr marL="0" indent="0" algn="just">
              <a:buNone/>
            </a:pPr>
            <a:r>
              <a:rPr lang="en-US" sz="2100" b="1" dirty="0"/>
              <a:t>5. Time of Data </a:t>
            </a:r>
            <a:r>
              <a:rPr lang="en-US" sz="2100" b="1" dirty="0" smtClean="0"/>
              <a:t>Restoration: </a:t>
            </a:r>
            <a:r>
              <a:rPr lang="en-US" sz="2100" dirty="0" smtClean="0"/>
              <a:t>Backup </a:t>
            </a:r>
            <a:r>
              <a:rPr lang="en-US" sz="2100" dirty="0"/>
              <a:t>planning depends on </a:t>
            </a:r>
            <a:r>
              <a:rPr lang="en-US" sz="2100" b="1" dirty="0"/>
              <a:t>how quickly the system must be restored</a:t>
            </a:r>
            <a:r>
              <a:rPr lang="en-US" sz="2100" dirty="0"/>
              <a:t>.</a:t>
            </a:r>
          </a:p>
          <a:p>
            <a:pPr marL="0" indent="0" algn="just">
              <a:buNone/>
            </a:pPr>
            <a:r>
              <a:rPr lang="en-US" sz="2100" b="1" dirty="0"/>
              <a:t>6. Type of </a:t>
            </a:r>
            <a:r>
              <a:rPr lang="en-US" sz="2100" b="1" dirty="0" smtClean="0"/>
              <a:t>Information :</a:t>
            </a:r>
            <a:r>
              <a:rPr lang="en-US" sz="2100" dirty="0" smtClean="0"/>
              <a:t>Identify </a:t>
            </a:r>
            <a:r>
              <a:rPr lang="en-US" sz="2100" dirty="0"/>
              <a:t>whether data </a:t>
            </a:r>
            <a:r>
              <a:rPr lang="en-US" sz="2100" dirty="0" smtClean="0"/>
              <a:t>is: Critical, Confidential, General </a:t>
            </a:r>
            <a:r>
              <a:rPr lang="en-US" sz="2100" dirty="0"/>
              <a:t>information</a:t>
            </a:r>
          </a:p>
          <a:p>
            <a:pPr marL="0" indent="0" algn="just">
              <a:buNone/>
            </a:pPr>
            <a:r>
              <a:rPr lang="en-US" sz="2100" b="1" dirty="0"/>
              <a:t>7. Backup </a:t>
            </a:r>
            <a:r>
              <a:rPr lang="en-US" sz="2100" b="1" dirty="0" smtClean="0"/>
              <a:t>Media : </a:t>
            </a:r>
            <a:r>
              <a:rPr lang="en-US" sz="2100" dirty="0" smtClean="0"/>
              <a:t>Backup </a:t>
            </a:r>
            <a:r>
              <a:rPr lang="en-US" sz="2100" dirty="0"/>
              <a:t>tapes are </a:t>
            </a:r>
            <a:r>
              <a:rPr lang="en-US" sz="2100" b="1" dirty="0"/>
              <a:t>cheap, compact, and capable of storing large amounts of data</a:t>
            </a:r>
            <a:r>
              <a:rPr lang="en-US" sz="2100" dirty="0"/>
              <a:t>.</a:t>
            </a:r>
          </a:p>
          <a:p>
            <a:pPr algn="just"/>
            <a:endParaRPr lang="en-IN" sz="2100" dirty="0"/>
          </a:p>
        </p:txBody>
      </p:sp>
    </p:spTree>
    <p:extLst>
      <p:ext uri="{BB962C8B-B14F-4D97-AF65-F5344CB8AC3E}">
        <p14:creationId xmlns:p14="http://schemas.microsoft.com/office/powerpoint/2010/main" val="334675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7398"/>
          </a:xfrm>
        </p:spPr>
        <p:txBody>
          <a:bodyPr>
            <a:normAutofit/>
          </a:bodyPr>
          <a:lstStyle/>
          <a:p>
            <a:r>
              <a:rPr lang="en-US" b="1" dirty="0"/>
              <a:t>Types of Backup </a:t>
            </a:r>
            <a:r>
              <a:rPr lang="en-US" b="1" dirty="0" smtClean="0"/>
              <a:t>Media</a:t>
            </a:r>
            <a:endParaRPr lang="en-IN" dirty="0"/>
          </a:p>
        </p:txBody>
      </p:sp>
      <p:sp>
        <p:nvSpPr>
          <p:cNvPr id="3" name="Content Placeholder 2"/>
          <p:cNvSpPr>
            <a:spLocks noGrp="1"/>
          </p:cNvSpPr>
          <p:nvPr>
            <p:ph idx="1"/>
          </p:nvPr>
        </p:nvSpPr>
        <p:spPr>
          <a:xfrm>
            <a:off x="202131" y="837398"/>
            <a:ext cx="8749364" cy="4525963"/>
          </a:xfrm>
        </p:spPr>
        <p:txBody>
          <a:bodyPr>
            <a:noAutofit/>
          </a:bodyPr>
          <a:lstStyle/>
          <a:p>
            <a:pPr marL="0" indent="0">
              <a:buNone/>
            </a:pPr>
            <a:r>
              <a:rPr lang="en-US" sz="2400" b="1" dirty="0" smtClean="0"/>
              <a:t>1</a:t>
            </a:r>
            <a:r>
              <a:rPr lang="en-US" sz="2400" b="1" dirty="0"/>
              <a:t>. Disk </a:t>
            </a:r>
            <a:r>
              <a:rPr lang="en-US" sz="2400" b="1" dirty="0" smtClean="0"/>
              <a:t>Drives :</a:t>
            </a:r>
            <a:r>
              <a:rPr lang="en-US" sz="2400" dirty="0" smtClean="0"/>
              <a:t>Provide </a:t>
            </a:r>
            <a:r>
              <a:rPr lang="en-US" sz="2400" b="1" dirty="0"/>
              <a:t>high speed backup</a:t>
            </a:r>
            <a:r>
              <a:rPr lang="en-US" sz="2400" dirty="0"/>
              <a:t>, but they are relatively </a:t>
            </a:r>
            <a:r>
              <a:rPr lang="en-US" sz="2400" b="1" dirty="0"/>
              <a:t>expensive</a:t>
            </a:r>
            <a:r>
              <a:rPr lang="en-US" sz="2400" dirty="0"/>
              <a:t>.</a:t>
            </a:r>
          </a:p>
          <a:p>
            <a:pPr marL="0" indent="0">
              <a:buNone/>
            </a:pPr>
            <a:r>
              <a:rPr lang="en-US" sz="2400" b="1" dirty="0"/>
              <a:t>2. Tape </a:t>
            </a:r>
            <a:r>
              <a:rPr lang="en-US" sz="2400" b="1" dirty="0" smtClean="0"/>
              <a:t>Drives: </a:t>
            </a:r>
            <a:r>
              <a:rPr lang="en-US" sz="2400" dirty="0" smtClean="0"/>
              <a:t>Capacity </a:t>
            </a:r>
            <a:r>
              <a:rPr lang="en-US" sz="2400" dirty="0"/>
              <a:t>ranges from </a:t>
            </a:r>
            <a:r>
              <a:rPr lang="en-US" sz="2400" b="1" dirty="0"/>
              <a:t>a few megabytes to hundreds of gigabytes</a:t>
            </a:r>
            <a:r>
              <a:rPr lang="en-US" sz="2400" dirty="0"/>
              <a:t>.</a:t>
            </a:r>
          </a:p>
          <a:p>
            <a:pPr marL="0" indent="0">
              <a:buNone/>
            </a:pPr>
            <a:r>
              <a:rPr lang="en-US" sz="2400" b="1" dirty="0"/>
              <a:t>3. Removable Disks</a:t>
            </a:r>
          </a:p>
          <a:p>
            <a:pPr marL="400050" lvl="1" indent="0">
              <a:buNone/>
            </a:pPr>
            <a:r>
              <a:rPr lang="en-US" sz="2000" dirty="0"/>
              <a:t>Fast</a:t>
            </a:r>
          </a:p>
          <a:p>
            <a:pPr marL="400050" lvl="1" indent="0">
              <a:buNone/>
            </a:pPr>
            <a:r>
              <a:rPr lang="en-US" sz="2000" dirty="0"/>
              <a:t>Easy to install</a:t>
            </a:r>
          </a:p>
          <a:p>
            <a:pPr marL="400050" lvl="1" indent="0">
              <a:buNone/>
            </a:pPr>
            <a:r>
              <a:rPr lang="en-US" sz="2000" dirty="0"/>
              <a:t>Portable</a:t>
            </a:r>
          </a:p>
          <a:p>
            <a:pPr marL="0" indent="0">
              <a:buNone/>
            </a:pPr>
            <a:r>
              <a:rPr lang="en-US" sz="2400" b="1" dirty="0"/>
              <a:t>4. Digital Audio Tape (</a:t>
            </a:r>
            <a:r>
              <a:rPr lang="en-US" sz="2400" b="1" dirty="0" smtClean="0"/>
              <a:t>DAT): </a:t>
            </a:r>
            <a:r>
              <a:rPr lang="en-US" sz="2400" dirty="0" smtClean="0"/>
              <a:t>Provides </a:t>
            </a:r>
            <a:r>
              <a:rPr lang="en-US" sz="2400" b="1" dirty="0"/>
              <a:t>larger capacity compared to standard tape drives</a:t>
            </a:r>
            <a:r>
              <a:rPr lang="en-US" sz="2400" dirty="0"/>
              <a:t>.</a:t>
            </a:r>
          </a:p>
          <a:p>
            <a:pPr marL="0" indent="0">
              <a:buNone/>
            </a:pPr>
            <a:r>
              <a:rPr lang="en-US" sz="2400" b="1" dirty="0"/>
              <a:t>5. Optical </a:t>
            </a:r>
            <a:r>
              <a:rPr lang="en-US" sz="2400" b="1" dirty="0" smtClean="0"/>
              <a:t>Jukeboxes : </a:t>
            </a:r>
            <a:r>
              <a:rPr lang="en-US" sz="2400" dirty="0" smtClean="0"/>
              <a:t>Offer </a:t>
            </a:r>
            <a:r>
              <a:rPr lang="en-US" sz="2400" b="1" dirty="0"/>
              <a:t>large secure storage capacity (5–20 TB)</a:t>
            </a:r>
            <a:r>
              <a:rPr lang="en-US" sz="2400" dirty="0"/>
              <a:t>.</a:t>
            </a:r>
          </a:p>
          <a:p>
            <a:pPr marL="0" indent="0">
              <a:buNone/>
            </a:pPr>
            <a:r>
              <a:rPr lang="en-US" sz="2400" b="1" dirty="0"/>
              <a:t>6. Autoloader Tape </a:t>
            </a:r>
            <a:r>
              <a:rPr lang="en-US" sz="2400" b="1" dirty="0" smtClean="0"/>
              <a:t>Systems :</a:t>
            </a:r>
            <a:r>
              <a:rPr lang="en-US" sz="2400" dirty="0" smtClean="0"/>
              <a:t>Use </a:t>
            </a:r>
            <a:r>
              <a:rPr lang="en-US" sz="2400" dirty="0"/>
              <a:t>a </a:t>
            </a:r>
            <a:r>
              <a:rPr lang="en-US" sz="2400" b="1" dirty="0"/>
              <a:t>magazine of tapes</a:t>
            </a:r>
            <a:r>
              <a:rPr lang="en-US" sz="2400" dirty="0"/>
              <a:t> to create extended backup </a:t>
            </a:r>
            <a:r>
              <a:rPr lang="en-US" sz="2400" dirty="0" smtClean="0"/>
              <a:t>volumes. Recommended </a:t>
            </a:r>
            <a:r>
              <a:rPr lang="en-US" sz="2400" dirty="0"/>
              <a:t>for </a:t>
            </a:r>
            <a:r>
              <a:rPr lang="en-US" sz="2400" b="1" dirty="0"/>
              <a:t>businesses requiring very high storage capacity</a:t>
            </a:r>
            <a:r>
              <a:rPr lang="en-US" sz="2400" dirty="0"/>
              <a:t>.</a:t>
            </a:r>
          </a:p>
          <a:p>
            <a:endParaRPr lang="en-IN" sz="2400" dirty="0"/>
          </a:p>
        </p:txBody>
      </p:sp>
    </p:spTree>
    <p:extLst>
      <p:ext uri="{BB962C8B-B14F-4D97-AF65-F5344CB8AC3E}">
        <p14:creationId xmlns:p14="http://schemas.microsoft.com/office/powerpoint/2010/main" val="652592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131" y="34006"/>
            <a:ext cx="8691612" cy="659013"/>
          </a:xfrm>
        </p:spPr>
        <p:txBody>
          <a:bodyPr>
            <a:normAutofit fontScale="90000"/>
          </a:bodyPr>
          <a:lstStyle/>
          <a:p>
            <a:r>
              <a:rPr lang="en-US" b="1" dirty="0"/>
              <a:t>Factors in Choosing Backup </a:t>
            </a:r>
            <a:r>
              <a:rPr lang="en-US" b="1" dirty="0" smtClean="0"/>
              <a:t>Media</a:t>
            </a:r>
            <a:endParaRPr lang="en-IN" dirty="0"/>
          </a:p>
        </p:txBody>
      </p:sp>
      <p:sp>
        <p:nvSpPr>
          <p:cNvPr id="3" name="Content Placeholder 2"/>
          <p:cNvSpPr>
            <a:spLocks noGrp="1"/>
          </p:cNvSpPr>
          <p:nvPr>
            <p:ph idx="1"/>
          </p:nvPr>
        </p:nvSpPr>
        <p:spPr>
          <a:xfrm>
            <a:off x="283945" y="810928"/>
            <a:ext cx="8229600" cy="4525963"/>
          </a:xfrm>
        </p:spPr>
        <p:txBody>
          <a:bodyPr>
            <a:noAutofit/>
          </a:bodyPr>
          <a:lstStyle/>
          <a:p>
            <a:pPr marL="0" indent="0" algn="just">
              <a:buNone/>
            </a:pPr>
            <a:r>
              <a:rPr lang="en-US" b="1" dirty="0" smtClean="0"/>
              <a:t>1</a:t>
            </a:r>
            <a:r>
              <a:rPr lang="en-US" b="1" dirty="0"/>
              <a:t>. </a:t>
            </a:r>
            <a:r>
              <a:rPr lang="en-US" b="1" dirty="0" smtClean="0"/>
              <a:t>Speed : </a:t>
            </a:r>
            <a:r>
              <a:rPr lang="en-US" dirty="0" smtClean="0"/>
              <a:t>How </a:t>
            </a:r>
            <a:r>
              <a:rPr lang="en-US" dirty="0"/>
              <a:t>fast data can be </a:t>
            </a:r>
            <a:r>
              <a:rPr lang="en-US" b="1" dirty="0"/>
              <a:t>backed up and recovered</a:t>
            </a:r>
            <a:r>
              <a:rPr lang="en-US" dirty="0"/>
              <a:t>.</a:t>
            </a:r>
          </a:p>
          <a:p>
            <a:pPr marL="0" indent="0" algn="just">
              <a:buNone/>
            </a:pPr>
            <a:r>
              <a:rPr lang="en-US" b="1" dirty="0"/>
              <a:t>2. </a:t>
            </a:r>
            <a:r>
              <a:rPr lang="en-US" b="1" dirty="0" smtClean="0"/>
              <a:t>Reliability : </a:t>
            </a:r>
            <a:r>
              <a:rPr lang="en-US" dirty="0" smtClean="0"/>
              <a:t>Dependability </a:t>
            </a:r>
            <a:r>
              <a:rPr lang="en-US" dirty="0"/>
              <a:t>of the </a:t>
            </a:r>
            <a:r>
              <a:rPr lang="en-US" b="1" dirty="0"/>
              <a:t>backup service and media</a:t>
            </a:r>
            <a:r>
              <a:rPr lang="en-US" dirty="0"/>
              <a:t>.</a:t>
            </a:r>
          </a:p>
          <a:p>
            <a:pPr marL="0" indent="0" algn="just">
              <a:buNone/>
            </a:pPr>
            <a:r>
              <a:rPr lang="en-US" b="1" dirty="0"/>
              <a:t>3. </a:t>
            </a:r>
            <a:r>
              <a:rPr lang="en-US" b="1" dirty="0" smtClean="0"/>
              <a:t>Capacity : </a:t>
            </a:r>
            <a:r>
              <a:rPr lang="en-US" dirty="0" smtClean="0"/>
              <a:t>Amount </a:t>
            </a:r>
            <a:r>
              <a:rPr lang="en-US" dirty="0"/>
              <a:t>of data that can be stored.</a:t>
            </a:r>
          </a:p>
          <a:p>
            <a:pPr marL="0" indent="0" algn="just">
              <a:buNone/>
            </a:pPr>
            <a:r>
              <a:rPr lang="en-US" b="1" dirty="0"/>
              <a:t>4. </a:t>
            </a:r>
            <a:r>
              <a:rPr lang="en-US" b="1" dirty="0" smtClean="0"/>
              <a:t>Extensibility : </a:t>
            </a:r>
            <a:r>
              <a:rPr lang="en-US" dirty="0" smtClean="0"/>
              <a:t>Ability of the backup solution to </a:t>
            </a:r>
            <a:r>
              <a:rPr lang="en-US" b="1" dirty="0" smtClean="0"/>
              <a:t>meet future needs</a:t>
            </a:r>
            <a:r>
              <a:rPr lang="en-US" dirty="0" smtClean="0"/>
              <a:t>.</a:t>
            </a:r>
          </a:p>
          <a:p>
            <a:pPr marL="0" indent="0" algn="just">
              <a:buNone/>
            </a:pPr>
            <a:r>
              <a:rPr lang="en-US" b="1" dirty="0" smtClean="0"/>
              <a:t>5</a:t>
            </a:r>
            <a:r>
              <a:rPr lang="en-US" b="1" dirty="0"/>
              <a:t>. </a:t>
            </a:r>
            <a:r>
              <a:rPr lang="en-US" b="1" dirty="0" smtClean="0"/>
              <a:t>Cost : </a:t>
            </a:r>
            <a:r>
              <a:rPr lang="en-US" dirty="0" smtClean="0"/>
              <a:t>The </a:t>
            </a:r>
            <a:r>
              <a:rPr lang="en-US" dirty="0"/>
              <a:t>backup solution should fit within the </a:t>
            </a:r>
            <a:r>
              <a:rPr lang="en-US" b="1" dirty="0"/>
              <a:t>available budget</a:t>
            </a:r>
            <a:r>
              <a:rPr lang="en-US" dirty="0"/>
              <a:t>.</a:t>
            </a:r>
          </a:p>
          <a:p>
            <a:pPr algn="just"/>
            <a:endParaRPr lang="en-IN" dirty="0"/>
          </a:p>
        </p:txBody>
      </p:sp>
    </p:spTree>
    <p:extLst>
      <p:ext uri="{BB962C8B-B14F-4D97-AF65-F5344CB8AC3E}">
        <p14:creationId xmlns:p14="http://schemas.microsoft.com/office/powerpoint/2010/main" val="1865949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612"/>
            <a:ext cx="8229600" cy="1143000"/>
          </a:xfrm>
        </p:spPr>
        <p:txBody>
          <a:bodyPr>
            <a:normAutofit/>
          </a:bodyPr>
          <a:lstStyle/>
          <a:p>
            <a:r>
              <a:rPr lang="en-US" b="1" dirty="0"/>
              <a:t>Data Backup </a:t>
            </a:r>
            <a:r>
              <a:rPr lang="en-US" b="1" dirty="0" smtClean="0"/>
              <a:t>Security</a:t>
            </a:r>
            <a:endParaRPr lang="en-IN" dirty="0"/>
          </a:p>
        </p:txBody>
      </p:sp>
      <p:sp>
        <p:nvSpPr>
          <p:cNvPr id="3" name="Content Placeholder 2"/>
          <p:cNvSpPr>
            <a:spLocks noGrp="1"/>
          </p:cNvSpPr>
          <p:nvPr>
            <p:ph idx="1"/>
          </p:nvPr>
        </p:nvSpPr>
        <p:spPr>
          <a:xfrm>
            <a:off x="341697" y="1166018"/>
            <a:ext cx="8229600" cy="5292534"/>
          </a:xfrm>
        </p:spPr>
        <p:txBody>
          <a:bodyPr>
            <a:noAutofit/>
          </a:bodyPr>
          <a:lstStyle/>
          <a:p>
            <a:r>
              <a:rPr lang="en-US" dirty="0" smtClean="0"/>
              <a:t>Backup </a:t>
            </a:r>
            <a:r>
              <a:rPr lang="en-US" dirty="0"/>
              <a:t>security is important when the information is:</a:t>
            </a:r>
          </a:p>
          <a:p>
            <a:pPr lvl="1"/>
            <a:r>
              <a:rPr lang="en-US" dirty="0"/>
              <a:t>Confidential</a:t>
            </a:r>
          </a:p>
          <a:p>
            <a:pPr lvl="1"/>
            <a:r>
              <a:rPr lang="en-US" dirty="0"/>
              <a:t>Personal</a:t>
            </a:r>
          </a:p>
          <a:p>
            <a:pPr lvl="1"/>
            <a:r>
              <a:rPr lang="en-US" dirty="0" smtClean="0"/>
              <a:t>Proprietary</a:t>
            </a:r>
          </a:p>
          <a:p>
            <a:pPr marL="457200" lvl="1" indent="0">
              <a:buNone/>
            </a:pPr>
            <a:endParaRPr lang="en-US" dirty="0"/>
          </a:p>
          <a:p>
            <a:r>
              <a:rPr lang="en-US" dirty="0"/>
              <a:t>Security measures include:</a:t>
            </a:r>
          </a:p>
          <a:p>
            <a:pPr lvl="1"/>
            <a:r>
              <a:rPr lang="en-US" dirty="0"/>
              <a:t>Restrict access to backup files.</a:t>
            </a:r>
          </a:p>
          <a:p>
            <a:pPr lvl="1"/>
            <a:r>
              <a:rPr lang="en-US" dirty="0"/>
              <a:t>Secure backup storage locations.</a:t>
            </a:r>
          </a:p>
          <a:p>
            <a:pPr lvl="1"/>
            <a:r>
              <a:rPr lang="en-US" dirty="0"/>
              <a:t>Store backups </a:t>
            </a:r>
            <a:r>
              <a:rPr lang="en-US" b="1" dirty="0"/>
              <a:t>offsite for safety</a:t>
            </a:r>
            <a:r>
              <a:rPr lang="en-US" dirty="0"/>
              <a:t>.</a:t>
            </a:r>
          </a:p>
          <a:p>
            <a:endParaRPr lang="en-IN" dirty="0"/>
          </a:p>
        </p:txBody>
      </p:sp>
    </p:spTree>
    <p:extLst>
      <p:ext uri="{BB962C8B-B14F-4D97-AF65-F5344CB8AC3E}">
        <p14:creationId xmlns:p14="http://schemas.microsoft.com/office/powerpoint/2010/main" val="1891799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Disaster Recovery</a:t>
            </a:r>
          </a:p>
        </p:txBody>
      </p:sp>
      <p:sp>
        <p:nvSpPr>
          <p:cNvPr id="3" name="Content Placeholder 2"/>
          <p:cNvSpPr>
            <a:spLocks noGrp="1"/>
          </p:cNvSpPr>
          <p:nvPr>
            <p:ph idx="1"/>
          </p:nvPr>
        </p:nvSpPr>
        <p:spPr/>
        <p:txBody>
          <a:bodyPr/>
          <a:lstStyle/>
          <a:p>
            <a:r>
              <a:t>Disaster Recovery is the process of restoring systems and operations after a failure or disaster.</a:t>
            </a:r>
          </a:p>
        </p:txBody>
      </p:sp>
    </p:spTree>
    <p:extLst>
      <p:ext uri="{BB962C8B-B14F-4D97-AF65-F5344CB8AC3E}">
        <p14:creationId xmlns:p14="http://schemas.microsoft.com/office/powerpoint/2010/main" val="50985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2026"/>
            <a:ext cx="8229600" cy="892425"/>
          </a:xfrm>
        </p:spPr>
        <p:txBody>
          <a:bodyPr>
            <a:normAutofit/>
          </a:bodyPr>
          <a:lstStyle/>
          <a:p>
            <a:r>
              <a:rPr lang="en-US" b="1" dirty="0"/>
              <a:t>Disaster Recovery </a:t>
            </a:r>
            <a:r>
              <a:rPr lang="en-US" b="1" dirty="0" smtClean="0"/>
              <a:t>Strategies</a:t>
            </a:r>
            <a:endParaRPr lang="en-IN" dirty="0"/>
          </a:p>
        </p:txBody>
      </p:sp>
      <p:sp>
        <p:nvSpPr>
          <p:cNvPr id="3" name="Content Placeholder 2"/>
          <p:cNvSpPr>
            <a:spLocks noGrp="1"/>
          </p:cNvSpPr>
          <p:nvPr>
            <p:ph idx="1"/>
          </p:nvPr>
        </p:nvSpPr>
        <p:spPr>
          <a:xfrm>
            <a:off x="101064" y="760399"/>
            <a:ext cx="8908181" cy="6256418"/>
          </a:xfrm>
        </p:spPr>
        <p:txBody>
          <a:bodyPr>
            <a:noAutofit/>
          </a:bodyPr>
          <a:lstStyle/>
          <a:p>
            <a:pPr algn="just"/>
            <a:r>
              <a:rPr lang="en-US" sz="2400" b="1" dirty="0" smtClean="0"/>
              <a:t>Plan </a:t>
            </a:r>
            <a:r>
              <a:rPr lang="en-US" sz="2400" b="1" dirty="0"/>
              <a:t>Restore with Automated System Recovery (ASR)</a:t>
            </a:r>
          </a:p>
          <a:p>
            <a:pPr marL="355600" indent="-355600" algn="just">
              <a:buNone/>
            </a:pPr>
            <a:r>
              <a:rPr lang="en-US" sz="2400" dirty="0" smtClean="0"/>
              <a:t>	ASR </a:t>
            </a:r>
            <a:r>
              <a:rPr lang="en-US" sz="2400" dirty="0"/>
              <a:t>is a tool used to </a:t>
            </a:r>
            <a:r>
              <a:rPr lang="en-US" sz="2400" b="1" dirty="0"/>
              <a:t>automatically restore the system after a system failure</a:t>
            </a:r>
            <a:r>
              <a:rPr lang="en-US" sz="2400" dirty="0"/>
              <a:t>.</a:t>
            </a:r>
          </a:p>
          <a:p>
            <a:pPr algn="just"/>
            <a:r>
              <a:rPr lang="en-US" sz="2400" b="1" dirty="0" smtClean="0"/>
              <a:t> Plan </a:t>
            </a:r>
            <a:r>
              <a:rPr lang="en-US" sz="2400" b="1" dirty="0"/>
              <a:t>to Backup Open Files</a:t>
            </a:r>
          </a:p>
          <a:p>
            <a:pPr marL="355600" indent="0" algn="just">
              <a:buNone/>
            </a:pPr>
            <a:r>
              <a:rPr lang="en-US" sz="2400" dirty="0"/>
              <a:t>Open files are files that are normally </a:t>
            </a:r>
            <a:r>
              <a:rPr lang="en-US" sz="2400" b="1" dirty="0"/>
              <a:t>skipped during the backup process</a:t>
            </a:r>
            <a:r>
              <a:rPr lang="en-US" sz="2400" dirty="0"/>
              <a:t>.</a:t>
            </a:r>
          </a:p>
          <a:p>
            <a:pPr marL="355600" indent="0" algn="just">
              <a:buNone/>
            </a:pPr>
            <a:r>
              <a:rPr lang="en-US" sz="2400" dirty="0"/>
              <a:t>Backup systems should be designed to ensure </a:t>
            </a:r>
            <a:r>
              <a:rPr lang="en-US" sz="2400" b="1" dirty="0"/>
              <a:t>open files are also backed up properly</a:t>
            </a:r>
            <a:r>
              <a:rPr lang="en-US" sz="2400" dirty="0"/>
              <a:t>.</a:t>
            </a:r>
          </a:p>
          <a:p>
            <a:pPr algn="just"/>
            <a:r>
              <a:rPr lang="en-US" sz="2400" b="1" dirty="0" smtClean="0"/>
              <a:t>Plan </a:t>
            </a:r>
            <a:r>
              <a:rPr lang="en-US" sz="2400" b="1" dirty="0"/>
              <a:t>a Backup Schedule</a:t>
            </a:r>
          </a:p>
          <a:p>
            <a:pPr marL="355600" indent="0" algn="just">
              <a:buNone/>
            </a:pPr>
            <a:r>
              <a:rPr lang="en-US" sz="2400" dirty="0"/>
              <a:t>A backup plan should be based on the </a:t>
            </a:r>
            <a:r>
              <a:rPr lang="en-US" sz="2400" b="1" dirty="0"/>
              <a:t>requirements for restoring data</a:t>
            </a:r>
            <a:r>
              <a:rPr lang="en-US" sz="2400" dirty="0"/>
              <a:t>.</a:t>
            </a:r>
          </a:p>
          <a:p>
            <a:pPr algn="just"/>
            <a:r>
              <a:rPr lang="en-US" sz="2400" dirty="0"/>
              <a:t>Backup schedules determine:</a:t>
            </a:r>
          </a:p>
          <a:p>
            <a:pPr lvl="1" algn="just"/>
            <a:r>
              <a:rPr lang="en-US" sz="2000" dirty="0"/>
              <a:t>When backups are taken</a:t>
            </a:r>
          </a:p>
          <a:p>
            <a:pPr lvl="1" algn="just"/>
            <a:r>
              <a:rPr lang="en-US" sz="2000" dirty="0"/>
              <a:t>How frequently backups occur</a:t>
            </a:r>
          </a:p>
          <a:p>
            <a:pPr lvl="1" algn="just"/>
            <a:r>
              <a:rPr lang="en-US" sz="2000" dirty="0"/>
              <a:t>How quickly data can be restored</a:t>
            </a:r>
          </a:p>
          <a:p>
            <a:pPr algn="just"/>
            <a:endParaRPr lang="en-IN" sz="2400" dirty="0"/>
          </a:p>
        </p:txBody>
      </p:sp>
    </p:spTree>
    <p:extLst>
      <p:ext uri="{BB962C8B-B14F-4D97-AF65-F5344CB8AC3E}">
        <p14:creationId xmlns:p14="http://schemas.microsoft.com/office/powerpoint/2010/main" val="2730797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Disaster Recovery Strategies (cont’d</a:t>
            </a:r>
            <a:r>
              <a:rPr lang="en-US" b="1" dirty="0" smtClean="0"/>
              <a:t>)</a:t>
            </a:r>
            <a:endParaRPr lang="en-IN" dirty="0"/>
          </a:p>
        </p:txBody>
      </p:sp>
      <p:sp>
        <p:nvSpPr>
          <p:cNvPr id="3" name="Content Placeholder 2"/>
          <p:cNvSpPr>
            <a:spLocks noGrp="1"/>
          </p:cNvSpPr>
          <p:nvPr>
            <p:ph idx="1"/>
          </p:nvPr>
        </p:nvSpPr>
        <p:spPr/>
        <p:txBody>
          <a:bodyPr/>
          <a:lstStyle/>
          <a:p>
            <a:r>
              <a:rPr lang="en-US" dirty="0" smtClean="0"/>
              <a:t>Some </a:t>
            </a:r>
            <a:r>
              <a:rPr lang="en-US" dirty="0"/>
              <a:t>of the common problems encountered during restoration are the following:</a:t>
            </a:r>
          </a:p>
          <a:p>
            <a:pPr lvl="1"/>
            <a:r>
              <a:rPr lang="en-US" dirty="0"/>
              <a:t>Incompatibility in hardware</a:t>
            </a:r>
          </a:p>
          <a:p>
            <a:pPr lvl="1"/>
            <a:r>
              <a:rPr lang="en-US" dirty="0"/>
              <a:t>Missing hardware driver</a:t>
            </a:r>
          </a:p>
          <a:p>
            <a:pPr lvl="1"/>
            <a:r>
              <a:rPr lang="en-US" dirty="0"/>
              <a:t>Corrupted backup media</a:t>
            </a:r>
          </a:p>
          <a:p>
            <a:endParaRPr lang="en-IN" dirty="0"/>
          </a:p>
        </p:txBody>
      </p:sp>
    </p:spTree>
    <p:extLst>
      <p:ext uri="{BB962C8B-B14F-4D97-AF65-F5344CB8AC3E}">
        <p14:creationId xmlns:p14="http://schemas.microsoft.com/office/powerpoint/2010/main" val="1453337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Disaster Recovery Strategies (cont’d</a:t>
            </a:r>
            <a:r>
              <a:rPr lang="en-US" b="1" dirty="0" smtClean="0"/>
              <a:t>)</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Test </a:t>
            </a:r>
            <a:r>
              <a:rPr lang="en-US" b="1" dirty="0"/>
              <a:t>Restores</a:t>
            </a:r>
          </a:p>
          <a:p>
            <a:r>
              <a:rPr lang="en-US" dirty="0"/>
              <a:t>Verifying the backup by </a:t>
            </a:r>
            <a:r>
              <a:rPr lang="en-US" b="1" dirty="0"/>
              <a:t>testing restore</a:t>
            </a:r>
            <a:r>
              <a:rPr lang="en-US" dirty="0"/>
              <a:t> is one of the most overlooked aspects of disaster recovery planning.</a:t>
            </a:r>
          </a:p>
          <a:p>
            <a:r>
              <a:rPr lang="en-US" dirty="0"/>
              <a:t>Backup should be tested to:</a:t>
            </a:r>
          </a:p>
          <a:p>
            <a:pPr lvl="1"/>
            <a:r>
              <a:rPr lang="en-US" dirty="0"/>
              <a:t>Validate the backup</a:t>
            </a:r>
          </a:p>
          <a:p>
            <a:pPr lvl="1"/>
            <a:r>
              <a:rPr lang="en-US" dirty="0"/>
              <a:t>Prepare for recovery</a:t>
            </a:r>
          </a:p>
          <a:p>
            <a:r>
              <a:rPr lang="en-US" dirty="0"/>
              <a:t>By testing restore, </a:t>
            </a:r>
            <a:r>
              <a:rPr lang="en-US" b="1" dirty="0"/>
              <a:t>restore procedures can be modified and documented properly</a:t>
            </a:r>
            <a:r>
              <a:rPr lang="en-US" dirty="0"/>
              <a:t>.</a:t>
            </a:r>
          </a:p>
          <a:p>
            <a:endParaRPr lang="en-IN" dirty="0"/>
          </a:p>
        </p:txBody>
      </p:sp>
    </p:spTree>
    <p:extLst>
      <p:ext uri="{BB962C8B-B14F-4D97-AF65-F5344CB8AC3E}">
        <p14:creationId xmlns:p14="http://schemas.microsoft.com/office/powerpoint/2010/main" val="551392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375"/>
            <a:ext cx="8229600" cy="924025"/>
          </a:xfrm>
        </p:spPr>
        <p:txBody>
          <a:bodyPr>
            <a:normAutofit/>
          </a:bodyPr>
          <a:lstStyle/>
          <a:p>
            <a:pPr fontAlgn="base"/>
            <a:r>
              <a:rPr lang="en-IN" b="1" dirty="0"/>
              <a:t>Step-by-Step Process</a:t>
            </a:r>
          </a:p>
        </p:txBody>
      </p:sp>
      <p:sp>
        <p:nvSpPr>
          <p:cNvPr id="3" name="Content Placeholder 2"/>
          <p:cNvSpPr>
            <a:spLocks noGrp="1"/>
          </p:cNvSpPr>
          <p:nvPr>
            <p:ph idx="1"/>
          </p:nvPr>
        </p:nvSpPr>
        <p:spPr/>
        <p:txBody>
          <a:bodyPr/>
          <a:lstStyle/>
          <a:p>
            <a:pPr marL="0" indent="0">
              <a:buNone/>
            </a:pPr>
            <a:endParaRP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765" y="646058"/>
            <a:ext cx="8586481" cy="6211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68034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375"/>
            <a:ext cx="8229600" cy="924025"/>
          </a:xfrm>
        </p:spPr>
        <p:txBody>
          <a:bodyPr>
            <a:normAutofit/>
          </a:bodyPr>
          <a:lstStyle/>
          <a:p>
            <a:pPr fontAlgn="base"/>
            <a:r>
              <a:rPr lang="en-IN" b="1" dirty="0"/>
              <a:t>Step-by-Step Process</a:t>
            </a:r>
          </a:p>
        </p:txBody>
      </p:sp>
      <p:sp>
        <p:nvSpPr>
          <p:cNvPr id="3" name="Content Placeholder 2"/>
          <p:cNvSpPr>
            <a:spLocks noGrp="1"/>
          </p:cNvSpPr>
          <p:nvPr>
            <p:ph idx="1"/>
          </p:nvPr>
        </p:nvSpPr>
        <p:spPr>
          <a:xfrm>
            <a:off x="231007" y="622170"/>
            <a:ext cx="8739738" cy="5852156"/>
          </a:xfrm>
        </p:spPr>
        <p:txBody>
          <a:bodyPr>
            <a:noAutofit/>
          </a:bodyPr>
          <a:lstStyle/>
          <a:p>
            <a:pPr marL="0" indent="0" algn="just" fontAlgn="base">
              <a:buNone/>
            </a:pPr>
            <a:r>
              <a:rPr lang="en-US" sz="2800" b="1" dirty="0"/>
              <a:t>Step 1: Choose Your Cloud Backup Provider</a:t>
            </a:r>
          </a:p>
          <a:p>
            <a:pPr marL="400050" lvl="1" indent="0" algn="just" fontAlgn="base">
              <a:buNone/>
            </a:pPr>
            <a:r>
              <a:rPr lang="en-US" sz="2400" dirty="0"/>
              <a:t>Research providers (AWS, Azure, Google Cloud, IBM Cloud)</a:t>
            </a:r>
          </a:p>
          <a:p>
            <a:pPr marL="400050" lvl="1" indent="0" algn="just" fontAlgn="base">
              <a:buNone/>
            </a:pPr>
            <a:r>
              <a:rPr lang="en-US" sz="2400" dirty="0"/>
              <a:t>Compare security, reliability, cost, and scalability</a:t>
            </a:r>
          </a:p>
          <a:p>
            <a:pPr marL="400050" lvl="1" indent="0" algn="just" fontAlgn="base">
              <a:buNone/>
            </a:pPr>
            <a:r>
              <a:rPr lang="en-US" sz="2400" dirty="0"/>
              <a:t>Select the best fit for your needs</a:t>
            </a:r>
            <a:r>
              <a:rPr lang="en-US" sz="2400" dirty="0" smtClean="0"/>
              <a:t>​</a:t>
            </a:r>
          </a:p>
          <a:p>
            <a:pPr marL="400050" lvl="1" indent="0" algn="just" fontAlgn="base">
              <a:buNone/>
            </a:pPr>
            <a:endParaRPr lang="en-US" sz="1050" dirty="0"/>
          </a:p>
          <a:p>
            <a:pPr marL="0" indent="0" algn="just" fontAlgn="base">
              <a:buNone/>
            </a:pPr>
            <a:r>
              <a:rPr lang="en-US" sz="2800" b="1" dirty="0"/>
              <a:t>Step 2: Identify What to Back Up</a:t>
            </a:r>
          </a:p>
          <a:p>
            <a:pPr marL="400050" lvl="1" indent="0" algn="just" fontAlgn="base">
              <a:buNone/>
            </a:pPr>
            <a:r>
              <a:rPr lang="en-US" sz="2400" dirty="0"/>
              <a:t>List critical data (customer records, financial files, databases)</a:t>
            </a:r>
          </a:p>
          <a:p>
            <a:pPr marL="400050" lvl="1" indent="0" algn="just" fontAlgn="base">
              <a:buNone/>
            </a:pPr>
            <a:r>
              <a:rPr lang="en-US" sz="2400" dirty="0" smtClean="0"/>
              <a:t>Prioritize </a:t>
            </a:r>
            <a:r>
              <a:rPr lang="en-US" sz="2400" dirty="0"/>
              <a:t>mission-critical vs. </a:t>
            </a:r>
            <a:r>
              <a:rPr lang="en-US" sz="2400" dirty="0"/>
              <a:t>less important data</a:t>
            </a:r>
          </a:p>
          <a:p>
            <a:pPr marL="400050" lvl="1" indent="0" algn="just" fontAlgn="base">
              <a:buNone/>
            </a:pPr>
            <a:r>
              <a:rPr lang="en-US" sz="2400" dirty="0"/>
              <a:t>Determine backup frequency for each data type</a:t>
            </a:r>
            <a:r>
              <a:rPr lang="en-US" sz="2400" dirty="0" smtClean="0"/>
              <a:t>​</a:t>
            </a:r>
          </a:p>
          <a:p>
            <a:pPr marL="400050" lvl="1" indent="0" algn="just" fontAlgn="base">
              <a:buNone/>
            </a:pPr>
            <a:endParaRPr lang="en-US" sz="1000" dirty="0"/>
          </a:p>
          <a:p>
            <a:pPr marL="0" indent="0" algn="just" fontAlgn="base">
              <a:buNone/>
            </a:pPr>
            <a:r>
              <a:rPr lang="en-US" sz="2800" b="1" dirty="0"/>
              <a:t>Step 3: Configure Automatic Backups</a:t>
            </a:r>
          </a:p>
          <a:p>
            <a:pPr marL="400050" lvl="1" indent="0" algn="just" fontAlgn="base">
              <a:buNone/>
            </a:pPr>
            <a:r>
              <a:rPr lang="en-US" sz="2400" dirty="0"/>
              <a:t>Set up backup schedule (daily, hourly, or real-time)</a:t>
            </a:r>
          </a:p>
          <a:p>
            <a:pPr marL="400050" lvl="1" indent="0" algn="just" fontAlgn="base">
              <a:buNone/>
            </a:pPr>
            <a:r>
              <a:rPr lang="en-US" sz="2400" dirty="0"/>
              <a:t>Enable encryption for data transmission and storage</a:t>
            </a:r>
          </a:p>
          <a:p>
            <a:pPr marL="400050" lvl="1" indent="0" algn="just" fontAlgn="base">
              <a:buNone/>
            </a:pPr>
            <a:r>
              <a:rPr lang="en-US" sz="2400" dirty="0"/>
              <a:t>Choose backup type (full, incremental, or differential)</a:t>
            </a:r>
            <a:r>
              <a:rPr lang="en-US" sz="2400" dirty="0"/>
              <a:t>​</a:t>
            </a:r>
            <a:endParaRPr lang="en-US" sz="2400" dirty="0"/>
          </a:p>
        </p:txBody>
      </p:sp>
    </p:spTree>
    <p:extLst>
      <p:ext uri="{BB962C8B-B14F-4D97-AF65-F5344CB8AC3E}">
        <p14:creationId xmlns:p14="http://schemas.microsoft.com/office/powerpoint/2010/main" val="25875007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375"/>
            <a:ext cx="8229600" cy="924025"/>
          </a:xfrm>
        </p:spPr>
        <p:txBody>
          <a:bodyPr>
            <a:normAutofit/>
          </a:bodyPr>
          <a:lstStyle/>
          <a:p>
            <a:pPr fontAlgn="base"/>
            <a:r>
              <a:rPr lang="en-IN" b="1" dirty="0"/>
              <a:t>Step-by-Step Process</a:t>
            </a:r>
          </a:p>
        </p:txBody>
      </p:sp>
      <p:sp>
        <p:nvSpPr>
          <p:cNvPr id="3" name="Content Placeholder 2"/>
          <p:cNvSpPr>
            <a:spLocks noGrp="1"/>
          </p:cNvSpPr>
          <p:nvPr>
            <p:ph idx="1"/>
          </p:nvPr>
        </p:nvSpPr>
        <p:spPr>
          <a:xfrm>
            <a:off x="457199" y="622170"/>
            <a:ext cx="8600173" cy="5852156"/>
          </a:xfrm>
        </p:spPr>
        <p:txBody>
          <a:bodyPr>
            <a:noAutofit/>
          </a:bodyPr>
          <a:lstStyle/>
          <a:p>
            <a:pPr marL="0" indent="0" fontAlgn="base">
              <a:buNone/>
            </a:pPr>
            <a:r>
              <a:rPr lang="en-US" sz="2400" b="1" dirty="0" smtClean="0"/>
              <a:t>Step </a:t>
            </a:r>
            <a:r>
              <a:rPr lang="en-US" sz="2400" b="1" dirty="0"/>
              <a:t>4: Monitor Backup Performance</a:t>
            </a:r>
          </a:p>
          <a:p>
            <a:pPr marL="400050" lvl="1" indent="0" fontAlgn="base">
              <a:buNone/>
            </a:pPr>
            <a:r>
              <a:rPr lang="en-US" sz="2400" dirty="0"/>
              <a:t>Use provider's monitoring dashboard</a:t>
            </a:r>
          </a:p>
          <a:p>
            <a:pPr marL="400050" lvl="1" indent="0" fontAlgn="base">
              <a:buNone/>
            </a:pPr>
            <a:r>
              <a:rPr lang="en-US" sz="2400" dirty="0"/>
              <a:t>Set up alerts for backup failures</a:t>
            </a:r>
          </a:p>
          <a:p>
            <a:pPr marL="400050" lvl="1" indent="0" fontAlgn="base">
              <a:buNone/>
            </a:pPr>
            <a:r>
              <a:rPr lang="en-US" sz="2400" dirty="0"/>
              <a:t>Review logs regularly to ensure successful completion​</a:t>
            </a:r>
          </a:p>
          <a:p>
            <a:pPr marL="0" indent="0" fontAlgn="base">
              <a:buNone/>
            </a:pPr>
            <a:r>
              <a:rPr lang="en-US" sz="2400" b="1" dirty="0"/>
              <a:t>Step 5: Define Recovery Objectives</a:t>
            </a:r>
          </a:p>
          <a:p>
            <a:pPr marL="400050" lvl="1" indent="0" fontAlgn="base">
              <a:buNone/>
            </a:pPr>
            <a:r>
              <a:rPr lang="en-US" sz="2400" dirty="0"/>
              <a:t>RTO (Recovery Time Objective): Maximum acceptable downtime</a:t>
            </a:r>
          </a:p>
          <a:p>
            <a:pPr marL="400050" lvl="1" indent="0" fontAlgn="base">
              <a:buNone/>
            </a:pPr>
            <a:r>
              <a:rPr lang="en-US" sz="2400" dirty="0"/>
              <a:t>RPO (Recovery Point Objective): Maximum acceptable data loss</a:t>
            </a:r>
          </a:p>
          <a:p>
            <a:pPr marL="400050" lvl="1" indent="0" fontAlgn="base">
              <a:buNone/>
            </a:pPr>
            <a:r>
              <a:rPr lang="en-US" sz="2400" dirty="0"/>
              <a:t>Document these goals clearly</a:t>
            </a:r>
            <a:r>
              <a:rPr lang="en-US" sz="2000" dirty="0"/>
              <a:t>​</a:t>
            </a:r>
          </a:p>
          <a:p>
            <a:pPr marL="0" indent="0" fontAlgn="base">
              <a:buNone/>
            </a:pPr>
            <a:r>
              <a:rPr lang="en-US" sz="2400" b="1" dirty="0"/>
              <a:t>Step 6: Test Your Recovery Process</a:t>
            </a:r>
          </a:p>
          <a:p>
            <a:pPr marL="400050" lvl="1" indent="0" fontAlgn="base">
              <a:buNone/>
            </a:pPr>
            <a:r>
              <a:rPr lang="en-US" sz="2400" dirty="0"/>
              <a:t>Simulate disaster scenarios monthly or quarterly</a:t>
            </a:r>
          </a:p>
          <a:p>
            <a:pPr marL="400050" lvl="1" indent="0" fontAlgn="base">
              <a:buNone/>
            </a:pPr>
            <a:r>
              <a:rPr lang="en-US" sz="2400" dirty="0"/>
              <a:t>Restore test data to verify it works</a:t>
            </a:r>
          </a:p>
          <a:p>
            <a:pPr marL="400050" lvl="1" indent="0" fontAlgn="base">
              <a:buNone/>
            </a:pPr>
            <a:r>
              <a:rPr lang="en-US" sz="2400" dirty="0"/>
              <a:t>Measure actual recovery times</a:t>
            </a:r>
          </a:p>
          <a:p>
            <a:pPr marL="400050" lvl="1" indent="0" fontAlgn="base">
              <a:buNone/>
            </a:pPr>
            <a:r>
              <a:rPr lang="en-US" sz="2400" dirty="0"/>
              <a:t>Update procedures based on test results​</a:t>
            </a:r>
          </a:p>
          <a:p>
            <a:pPr marL="0" indent="0">
              <a:buNone/>
            </a:pPr>
            <a:endParaRPr sz="2400" dirty="0"/>
          </a:p>
        </p:txBody>
      </p:sp>
    </p:spTree>
    <p:extLst>
      <p:ext uri="{BB962C8B-B14F-4D97-AF65-F5344CB8AC3E}">
        <p14:creationId xmlns:p14="http://schemas.microsoft.com/office/powerpoint/2010/main" val="4856962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375"/>
            <a:ext cx="8229600" cy="924025"/>
          </a:xfrm>
        </p:spPr>
        <p:txBody>
          <a:bodyPr>
            <a:normAutofit/>
          </a:bodyPr>
          <a:lstStyle/>
          <a:p>
            <a:pPr fontAlgn="base"/>
            <a:r>
              <a:rPr lang="en-IN" b="1" dirty="0"/>
              <a:t>Step-by-Step Process</a:t>
            </a:r>
          </a:p>
        </p:txBody>
      </p:sp>
      <p:sp>
        <p:nvSpPr>
          <p:cNvPr id="3" name="Content Placeholder 2"/>
          <p:cNvSpPr>
            <a:spLocks noGrp="1"/>
          </p:cNvSpPr>
          <p:nvPr>
            <p:ph idx="1"/>
          </p:nvPr>
        </p:nvSpPr>
        <p:spPr>
          <a:xfrm>
            <a:off x="457200" y="708795"/>
            <a:ext cx="8229600" cy="5852156"/>
          </a:xfrm>
        </p:spPr>
        <p:txBody>
          <a:bodyPr>
            <a:noAutofit/>
          </a:bodyPr>
          <a:lstStyle/>
          <a:p>
            <a:pPr marL="0" indent="0" fontAlgn="base">
              <a:buNone/>
            </a:pPr>
            <a:r>
              <a:rPr lang="en-US" sz="2800" b="1" dirty="0" smtClean="0"/>
              <a:t>Step </a:t>
            </a:r>
            <a:r>
              <a:rPr lang="en-US" sz="2800" b="1" dirty="0"/>
              <a:t>7: Document Everything</a:t>
            </a:r>
          </a:p>
          <a:p>
            <a:pPr marL="400050" lvl="1" indent="0" fontAlgn="base">
              <a:buNone/>
            </a:pPr>
            <a:r>
              <a:rPr lang="en-US" dirty="0"/>
              <a:t>Write step-by-step recovery procedures</a:t>
            </a:r>
          </a:p>
          <a:p>
            <a:pPr marL="400050" lvl="1" indent="0" fontAlgn="base">
              <a:buNone/>
            </a:pPr>
            <a:r>
              <a:rPr lang="en-US" dirty="0"/>
              <a:t>Include contact information for key personnel</a:t>
            </a:r>
          </a:p>
          <a:p>
            <a:pPr marL="400050" lvl="1" indent="0" fontAlgn="base">
              <a:buNone/>
            </a:pPr>
            <a:r>
              <a:rPr lang="en-US" dirty="0"/>
              <a:t>Keep documentation accessible during emergencies</a:t>
            </a:r>
            <a:r>
              <a:rPr lang="en-US" dirty="0" smtClean="0"/>
              <a:t>​</a:t>
            </a:r>
          </a:p>
          <a:p>
            <a:pPr marL="400050" lvl="1" indent="0" fontAlgn="base">
              <a:buNone/>
            </a:pPr>
            <a:endParaRPr lang="en-US" sz="2400" dirty="0"/>
          </a:p>
          <a:p>
            <a:pPr marL="0" indent="0" fontAlgn="base">
              <a:buNone/>
            </a:pPr>
            <a:r>
              <a:rPr lang="en-US" sz="2800" b="1" dirty="0"/>
              <a:t>Step 8: Review and Update Regularly</a:t>
            </a:r>
          </a:p>
          <a:p>
            <a:pPr marL="400050" lvl="1" indent="0" fontAlgn="base">
              <a:buNone/>
            </a:pPr>
            <a:r>
              <a:rPr lang="en-US" sz="3200" dirty="0"/>
              <a:t>Update plans after system changes</a:t>
            </a:r>
          </a:p>
          <a:p>
            <a:pPr marL="400050" lvl="1" indent="0" fontAlgn="base">
              <a:buNone/>
            </a:pPr>
            <a:r>
              <a:rPr lang="en-US" sz="3200" dirty="0"/>
              <a:t>Incorporate feedback from tests</a:t>
            </a:r>
          </a:p>
          <a:p>
            <a:pPr marL="400050" lvl="1" indent="0" fontAlgn="base">
              <a:buNone/>
            </a:pPr>
            <a:r>
              <a:rPr lang="en-US" sz="3200" dirty="0"/>
              <a:t>Track new technologies and best practices</a:t>
            </a:r>
          </a:p>
          <a:p>
            <a:pPr marL="0" indent="0">
              <a:buNone/>
            </a:pPr>
            <a:endParaRPr sz="2800" dirty="0"/>
          </a:p>
        </p:txBody>
      </p:sp>
    </p:spTree>
    <p:extLst>
      <p:ext uri="{BB962C8B-B14F-4D97-AF65-F5344CB8AC3E}">
        <p14:creationId xmlns:p14="http://schemas.microsoft.com/office/powerpoint/2010/main" val="131925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3253"/>
            <a:ext cx="8229600" cy="659013"/>
          </a:xfrm>
        </p:spPr>
        <p:txBody>
          <a:bodyPr>
            <a:noAutofit/>
          </a:bodyPr>
          <a:lstStyle/>
          <a:p>
            <a:pPr fontAlgn="base"/>
            <a:r>
              <a:rPr lang="en-IN" sz="4800" b="1" dirty="0"/>
              <a:t>Process Flow</a:t>
            </a:r>
          </a:p>
        </p:txBody>
      </p:sp>
      <p:sp>
        <p:nvSpPr>
          <p:cNvPr id="3" name="Content Placeholder 2"/>
          <p:cNvSpPr>
            <a:spLocks noGrp="1"/>
          </p:cNvSpPr>
          <p:nvPr>
            <p:ph idx="1"/>
          </p:nvPr>
        </p:nvSpPr>
        <p:spPr>
          <a:xfrm>
            <a:off x="202128" y="497794"/>
            <a:ext cx="8768615" cy="6201389"/>
          </a:xfrm>
        </p:spPr>
        <p:txBody>
          <a:bodyPr>
            <a:noAutofit/>
          </a:bodyPr>
          <a:lstStyle/>
          <a:p>
            <a:pPr marL="0" indent="0" algn="just" fontAlgn="base">
              <a:buNone/>
            </a:pPr>
            <a:r>
              <a:rPr lang="en-US" sz="2000" dirty="0"/>
              <a:t>1. </a:t>
            </a:r>
            <a:r>
              <a:rPr lang="en-US" sz="2000" b="1" dirty="0"/>
              <a:t>Setup Phase</a:t>
            </a:r>
            <a:r>
              <a:rPr lang="en-US" sz="2000" dirty="0"/>
              <a:t>: Create a cloud backup provider account and configure backup settings including which files to back up, automatic backup schedule, and encryption settings.​</a:t>
            </a:r>
          </a:p>
          <a:p>
            <a:pPr marL="0" indent="0" algn="just" fontAlgn="base">
              <a:buNone/>
            </a:pPr>
            <a:r>
              <a:rPr lang="en-US" sz="2000" dirty="0"/>
              <a:t>2. </a:t>
            </a:r>
            <a:r>
              <a:rPr lang="en-US" sz="2000" b="1" dirty="0"/>
              <a:t>Automated Backup Process</a:t>
            </a:r>
            <a:r>
              <a:rPr lang="en-US" sz="2000" dirty="0"/>
              <a:t>: The system initiates backup at the scheduled time, connects to the cloud provider server, validates credentials, encrypts data, transfers it from local storage to cloud, verifies completion, and updates backup logs.</a:t>
            </a:r>
          </a:p>
          <a:p>
            <a:pPr marL="0" indent="0" algn="just" fontAlgn="base">
              <a:buNone/>
            </a:pPr>
            <a:r>
              <a:rPr lang="en-US" sz="2000" dirty="0"/>
              <a:t>​3. </a:t>
            </a:r>
            <a:r>
              <a:rPr lang="en-US" sz="2000" b="1" dirty="0"/>
              <a:t>Continuous Monitoring</a:t>
            </a:r>
            <a:r>
              <a:rPr lang="en-US" sz="2000" dirty="0"/>
              <a:t>: The system regularly checks backup status. When backups succeed, it logs completion and waits for the next schedule. When backups fail, it alerts the administrator, identifies the cause, and attempts automatic retry if possible</a:t>
            </a:r>
          </a:p>
          <a:p>
            <a:pPr marL="0" indent="0" algn="just" fontAlgn="base">
              <a:buNone/>
            </a:pPr>
            <a:r>
              <a:rPr lang="en-US" sz="2000" dirty="0"/>
              <a:t>​4. </a:t>
            </a:r>
            <a:r>
              <a:rPr lang="en-US" sz="2000" b="1" dirty="0"/>
              <a:t>Disaster Recovery Activation</a:t>
            </a:r>
            <a:r>
              <a:rPr lang="en-US" sz="2000" dirty="0"/>
              <a:t>: When a disaster occurs (hardware failure, </a:t>
            </a:r>
            <a:r>
              <a:rPr lang="en-US" sz="2000" dirty="0" err="1"/>
              <a:t>cyberattack</a:t>
            </a:r>
            <a:r>
              <a:rPr lang="en-US" sz="2000" dirty="0"/>
              <a:t>, or natural disaster), assess the situation, activate the disaster recovery plan, initiate data restoration from cloud backup, verify restored data integrity, and resume normal operations. Recovery objectives include RTO (maximum time allowed for restoration) and RPO (maximum acceptable data loss).​</a:t>
            </a:r>
          </a:p>
          <a:p>
            <a:pPr marL="0" indent="0" algn="just" fontAlgn="base">
              <a:buNone/>
            </a:pPr>
            <a:r>
              <a:rPr lang="en-US" sz="2000" dirty="0"/>
              <a:t>5. </a:t>
            </a:r>
            <a:r>
              <a:rPr lang="en-US" sz="2000" b="1" dirty="0"/>
              <a:t>Regular Testing and Updates</a:t>
            </a:r>
            <a:r>
              <a:rPr lang="en-US" sz="2000" dirty="0"/>
              <a:t>: Test the recovery process quarterly by simulating different disaster scenarios, document test results and lessons learned, update procedures based on findings, and track new technologies and best practices.</a:t>
            </a:r>
          </a:p>
        </p:txBody>
      </p:sp>
    </p:spTree>
    <p:extLst>
      <p:ext uri="{BB962C8B-B14F-4D97-AF65-F5344CB8AC3E}">
        <p14:creationId xmlns:p14="http://schemas.microsoft.com/office/powerpoint/2010/main" val="34953199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50771"/>
          </a:xfrm>
        </p:spPr>
        <p:txBody>
          <a:bodyPr>
            <a:normAutofit fontScale="90000"/>
          </a:bodyPr>
          <a:lstStyle/>
          <a:p>
            <a:pPr fontAlgn="base"/>
            <a:r>
              <a:rPr lang="en-IN" b="1" dirty="0"/>
              <a:t>Real-world examples</a:t>
            </a:r>
          </a:p>
        </p:txBody>
      </p:sp>
      <p:sp>
        <p:nvSpPr>
          <p:cNvPr id="3" name="Content Placeholder 2"/>
          <p:cNvSpPr>
            <a:spLocks noGrp="1"/>
          </p:cNvSpPr>
          <p:nvPr>
            <p:ph idx="1"/>
          </p:nvPr>
        </p:nvSpPr>
        <p:spPr>
          <a:xfrm>
            <a:off x="125128" y="750771"/>
            <a:ext cx="8768615" cy="6035040"/>
          </a:xfrm>
        </p:spPr>
        <p:txBody>
          <a:bodyPr>
            <a:noAutofit/>
          </a:bodyPr>
          <a:lstStyle/>
          <a:p>
            <a:pPr algn="just" fontAlgn="base"/>
            <a:r>
              <a:rPr lang="en-US" sz="2400" b="1" dirty="0"/>
              <a:t>Small Business Data Protection</a:t>
            </a:r>
            <a:r>
              <a:rPr lang="en-US" sz="2400" dirty="0"/>
              <a:t>: An accounting firm stores client financial records on local servers. Using cloud backup with continuous replication, they protect crucial data in real-time. When </a:t>
            </a:r>
            <a:r>
              <a:rPr lang="en-US" sz="2400" dirty="0" err="1"/>
              <a:t>ransomware</a:t>
            </a:r>
            <a:r>
              <a:rPr lang="en-US" sz="2400" dirty="0"/>
              <a:t> attacks, the firm restores from cloud backup and resumes services with minimal downtime, protecting client relationships.​</a:t>
            </a:r>
          </a:p>
          <a:p>
            <a:pPr algn="just" fontAlgn="base"/>
            <a:r>
              <a:rPr lang="en-US" sz="2400" b="1" dirty="0"/>
              <a:t>E-commerce Website Resilience</a:t>
            </a:r>
            <a:r>
              <a:rPr lang="en-US" sz="2400" dirty="0"/>
              <a:t>: An online retailer maintains customer information, product catalogs, and transaction histories. Using cloud disaster recovery with geo-redundant data centers, they create redundant database copies across multiple locations. If one data </a:t>
            </a:r>
            <a:r>
              <a:rPr lang="en-US" sz="2400" dirty="0" smtClean="0"/>
              <a:t>center </a:t>
            </a:r>
            <a:r>
              <a:rPr lang="en-US" sz="2400" dirty="0"/>
              <a:t>fails, operations continue seamlessly.​</a:t>
            </a:r>
          </a:p>
          <a:p>
            <a:pPr algn="just" fontAlgn="base"/>
            <a:r>
              <a:rPr lang="en-US" sz="2400" b="1" dirty="0"/>
              <a:t>Educational Institution Data Protection</a:t>
            </a:r>
            <a:r>
              <a:rPr lang="en-US" sz="2400" dirty="0"/>
              <a:t>: Universities accumulate large volumes of student records, research materials, and administrative documents. Cloud backup services protect against data breaches and accidental deletion. Administrators can recover critical information within minutes, ensuring academic continuity.</a:t>
            </a:r>
          </a:p>
        </p:txBody>
      </p:sp>
    </p:spTree>
    <p:extLst>
      <p:ext uri="{BB962C8B-B14F-4D97-AF65-F5344CB8AC3E}">
        <p14:creationId xmlns:p14="http://schemas.microsoft.com/office/powerpoint/2010/main" val="2470290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Use Data Backup and Recovery?</a:t>
            </a:r>
            <a:br>
              <a:rPr lang="en-US" b="1" dirty="0"/>
            </a:br>
            <a:r>
              <a:rPr lang="en-US" b="1" dirty="0" smtClean="0"/>
              <a:t>(Advantages)</a:t>
            </a:r>
            <a:endParaRPr lang="en-IN" dirty="0"/>
          </a:p>
        </p:txBody>
      </p:sp>
      <p:sp>
        <p:nvSpPr>
          <p:cNvPr id="3" name="Content Placeholder 2"/>
          <p:cNvSpPr>
            <a:spLocks noGrp="1"/>
          </p:cNvSpPr>
          <p:nvPr>
            <p:ph idx="1"/>
          </p:nvPr>
        </p:nvSpPr>
        <p:spPr>
          <a:xfrm>
            <a:off x="250257" y="1600200"/>
            <a:ext cx="8720487" cy="5070107"/>
          </a:xfrm>
        </p:spPr>
        <p:txBody>
          <a:bodyPr>
            <a:noAutofit/>
          </a:bodyPr>
          <a:lstStyle/>
          <a:p>
            <a:pPr marL="0" indent="0" fontAlgn="base">
              <a:buNone/>
            </a:pPr>
            <a:r>
              <a:rPr lang="en-US" sz="2400" b="1" dirty="0"/>
              <a:t>1. Data Protection and Redundancy:</a:t>
            </a:r>
            <a:endParaRPr lang="en-US" sz="2400" dirty="0"/>
          </a:p>
          <a:p>
            <a:pPr marL="400050" lvl="1" indent="0" fontAlgn="base">
              <a:buNone/>
            </a:pPr>
            <a:r>
              <a:rPr lang="en-US" sz="2200" dirty="0"/>
              <a:t>Redundant storage across multiple data cents</a:t>
            </a:r>
          </a:p>
          <a:p>
            <a:pPr marL="400050" lvl="1" indent="0" fontAlgn="base">
              <a:buNone/>
            </a:pPr>
            <a:r>
              <a:rPr lang="en-US" sz="2200" dirty="0"/>
              <a:t>Protection against hardware crashes, natural events, and </a:t>
            </a:r>
            <a:r>
              <a:rPr lang="en-US" sz="2200" dirty="0" smtClean="0"/>
              <a:t>cyber attacks</a:t>
            </a:r>
            <a:endParaRPr lang="en-US" sz="2200" dirty="0"/>
          </a:p>
          <a:p>
            <a:pPr marL="400050" lvl="1" indent="0" fontAlgn="base">
              <a:buNone/>
            </a:pPr>
            <a:r>
              <a:rPr lang="en-US" sz="2200" dirty="0"/>
              <a:t>Major providers offer 99.999999999% durability​</a:t>
            </a:r>
          </a:p>
          <a:p>
            <a:pPr marL="0" indent="0" fontAlgn="base">
              <a:buNone/>
            </a:pPr>
            <a:r>
              <a:rPr lang="en-US" sz="2400" b="1" dirty="0"/>
              <a:t>2. Scalability:</a:t>
            </a:r>
            <a:endParaRPr lang="en-US" sz="2400" dirty="0"/>
          </a:p>
          <a:p>
            <a:pPr marL="400050" lvl="1" indent="0" fontAlgn="base">
              <a:buNone/>
            </a:pPr>
            <a:r>
              <a:rPr lang="en-US" sz="2200" dirty="0"/>
              <a:t>Virtual storage easily expands or contracts</a:t>
            </a:r>
          </a:p>
          <a:p>
            <a:pPr marL="400050" lvl="1" indent="0" fontAlgn="base">
              <a:buNone/>
            </a:pPr>
            <a:r>
              <a:rPr lang="en-US" sz="2200" dirty="0"/>
              <a:t>No new hardware investments needed</a:t>
            </a:r>
          </a:p>
          <a:p>
            <a:pPr marL="400050" lvl="1" indent="0" fontAlgn="base">
              <a:buNone/>
            </a:pPr>
            <a:r>
              <a:rPr lang="en-US" sz="2200" dirty="0"/>
              <a:t>Adapts to changing data requirements</a:t>
            </a:r>
            <a:r>
              <a:rPr lang="en-US" sz="2000" dirty="0"/>
              <a:t>​</a:t>
            </a:r>
          </a:p>
          <a:p>
            <a:pPr marL="0" indent="0" fontAlgn="base">
              <a:buNone/>
            </a:pPr>
            <a:r>
              <a:rPr lang="en-US" sz="2400" b="1" dirty="0"/>
              <a:t>3. Cost-Efficiency:</a:t>
            </a:r>
            <a:endParaRPr lang="en-US" sz="2400" dirty="0"/>
          </a:p>
          <a:p>
            <a:pPr marL="400050" lvl="1" indent="0" fontAlgn="base">
              <a:buNone/>
            </a:pPr>
            <a:r>
              <a:rPr lang="en-US" sz="2200" dirty="0"/>
              <a:t>No hardware infrastructure spending</a:t>
            </a:r>
          </a:p>
          <a:p>
            <a:pPr marL="400050" lvl="1" indent="0" fontAlgn="base">
              <a:buNone/>
            </a:pPr>
            <a:r>
              <a:rPr lang="en-US" sz="2200" dirty="0"/>
              <a:t>No maintenance costs</a:t>
            </a:r>
          </a:p>
          <a:p>
            <a:pPr marL="400050" lvl="1" indent="0" fontAlgn="base">
              <a:buNone/>
            </a:pPr>
            <a:r>
              <a:rPr lang="en-US" sz="2200" dirty="0"/>
              <a:t>Pay only for storage used​</a:t>
            </a:r>
          </a:p>
          <a:p>
            <a:pPr marL="0" indent="0">
              <a:buNone/>
            </a:pPr>
            <a:endParaRPr lang="en-IN" sz="2400" dirty="0"/>
          </a:p>
        </p:txBody>
      </p:sp>
    </p:spTree>
    <p:extLst>
      <p:ext uri="{BB962C8B-B14F-4D97-AF65-F5344CB8AC3E}">
        <p14:creationId xmlns:p14="http://schemas.microsoft.com/office/powerpoint/2010/main" val="9339248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Use Data Backup and Recovery?</a:t>
            </a:r>
            <a:br>
              <a:rPr lang="en-US" b="1" dirty="0"/>
            </a:br>
            <a:r>
              <a:rPr lang="en-US" b="1" dirty="0" smtClean="0"/>
              <a:t>(Advantages)</a:t>
            </a:r>
            <a:endParaRPr lang="en-IN" dirty="0"/>
          </a:p>
        </p:txBody>
      </p:sp>
      <p:sp>
        <p:nvSpPr>
          <p:cNvPr id="3" name="Content Placeholder 2"/>
          <p:cNvSpPr>
            <a:spLocks noGrp="1"/>
          </p:cNvSpPr>
          <p:nvPr>
            <p:ph idx="1"/>
          </p:nvPr>
        </p:nvSpPr>
        <p:spPr>
          <a:xfrm>
            <a:off x="457200" y="1600200"/>
            <a:ext cx="8229600" cy="5098983"/>
          </a:xfrm>
        </p:spPr>
        <p:txBody>
          <a:bodyPr>
            <a:normAutofit fontScale="85000" lnSpcReduction="20000"/>
          </a:bodyPr>
          <a:lstStyle/>
          <a:p>
            <a:pPr marL="0" indent="0" fontAlgn="base">
              <a:buNone/>
            </a:pPr>
            <a:r>
              <a:rPr lang="en-US" b="1" dirty="0" smtClean="0"/>
              <a:t>4</a:t>
            </a:r>
            <a:r>
              <a:rPr lang="en-US" b="1" dirty="0"/>
              <a:t>. Accessibility and Flexibility:</a:t>
            </a:r>
            <a:endParaRPr lang="en-US" dirty="0"/>
          </a:p>
          <a:p>
            <a:pPr marL="400050" lvl="1" indent="0" fontAlgn="base">
              <a:buNone/>
            </a:pPr>
            <a:r>
              <a:rPr lang="en-US" dirty="0"/>
              <a:t>Access from any internet-enabled device</a:t>
            </a:r>
          </a:p>
          <a:p>
            <a:pPr marL="400050" lvl="1" indent="0" fontAlgn="base">
              <a:buNone/>
            </a:pPr>
            <a:r>
              <a:rPr lang="en-US" dirty="0"/>
              <a:t>Work from any location with internet</a:t>
            </a:r>
          </a:p>
          <a:p>
            <a:pPr marL="400050" lvl="1" indent="0" fontAlgn="base">
              <a:buNone/>
            </a:pPr>
            <a:r>
              <a:rPr lang="en-US" dirty="0"/>
              <a:t>Enhances collaboration and efficiency​</a:t>
            </a:r>
          </a:p>
          <a:p>
            <a:pPr marL="0" indent="0" fontAlgn="base">
              <a:buNone/>
            </a:pPr>
            <a:r>
              <a:rPr lang="en-US" b="1" dirty="0"/>
              <a:t>5. Automated Backup and Recovery:</a:t>
            </a:r>
            <a:endParaRPr lang="en-US" dirty="0"/>
          </a:p>
          <a:p>
            <a:pPr marL="400050" lvl="1" indent="0" fontAlgn="base">
              <a:buNone/>
            </a:pPr>
            <a:r>
              <a:rPr lang="en-US" dirty="0"/>
              <a:t>Automated backup schedules</a:t>
            </a:r>
          </a:p>
          <a:p>
            <a:pPr marL="400050" lvl="1" indent="0" fontAlgn="base">
              <a:buNone/>
            </a:pPr>
            <a:r>
              <a:rPr lang="en-US" dirty="0"/>
              <a:t>Reduced manual intervention</a:t>
            </a:r>
          </a:p>
          <a:p>
            <a:pPr marL="400050" lvl="1" indent="0" fontAlgn="base">
              <a:buNone/>
            </a:pPr>
            <a:r>
              <a:rPr lang="en-US" dirty="0"/>
              <a:t>Consistent and accurate backups</a:t>
            </a:r>
          </a:p>
          <a:p>
            <a:pPr marL="400050" lvl="1" indent="0" fontAlgn="base">
              <a:buNone/>
            </a:pPr>
            <a:r>
              <a:rPr lang="en-US" dirty="0"/>
              <a:t>Prevents data loss in complex IT environments​</a:t>
            </a:r>
          </a:p>
          <a:p>
            <a:pPr marL="0" indent="0" fontAlgn="base">
              <a:buNone/>
            </a:pPr>
            <a:r>
              <a:rPr lang="en-US" b="1" dirty="0"/>
              <a:t>6. Disaster Recovery Capabilities:</a:t>
            </a:r>
            <a:endParaRPr lang="en-US" dirty="0"/>
          </a:p>
          <a:p>
            <a:pPr marL="400050" lvl="1" indent="0" fontAlgn="base">
              <a:buNone/>
            </a:pPr>
            <a:r>
              <a:rPr lang="en-US" dirty="0"/>
              <a:t>Fast restoration after incidents</a:t>
            </a:r>
          </a:p>
          <a:p>
            <a:pPr marL="400050" lvl="1" indent="0" fontAlgn="base">
              <a:buNone/>
            </a:pPr>
            <a:r>
              <a:rPr lang="en-US" dirty="0"/>
              <a:t>Business continuity assurance</a:t>
            </a:r>
          </a:p>
          <a:p>
            <a:pPr marL="400050" lvl="1" indent="0" fontAlgn="base">
              <a:buNone/>
            </a:pPr>
            <a:r>
              <a:rPr lang="en-US" dirty="0"/>
              <a:t>Minimal operational disruption</a:t>
            </a:r>
          </a:p>
          <a:p>
            <a:pPr marL="0" indent="0">
              <a:buNone/>
            </a:pPr>
            <a:endParaRPr lang="en-IN" dirty="0"/>
          </a:p>
        </p:txBody>
      </p:sp>
    </p:spTree>
    <p:extLst>
      <p:ext uri="{BB962C8B-B14F-4D97-AF65-F5344CB8AC3E}">
        <p14:creationId xmlns:p14="http://schemas.microsoft.com/office/powerpoint/2010/main" val="8597938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77" y="-38500"/>
            <a:ext cx="8229600" cy="803391"/>
          </a:xfrm>
        </p:spPr>
        <p:txBody>
          <a:bodyPr>
            <a:normAutofit/>
          </a:bodyPr>
          <a:lstStyle/>
          <a:p>
            <a:pPr fontAlgn="base"/>
            <a:r>
              <a:rPr lang="en-IN" b="1" dirty="0"/>
              <a:t>Disadvantages</a:t>
            </a:r>
          </a:p>
        </p:txBody>
      </p:sp>
      <p:sp>
        <p:nvSpPr>
          <p:cNvPr id="3" name="Content Placeholder 2"/>
          <p:cNvSpPr>
            <a:spLocks noGrp="1"/>
          </p:cNvSpPr>
          <p:nvPr>
            <p:ph idx="1"/>
          </p:nvPr>
        </p:nvSpPr>
        <p:spPr>
          <a:xfrm>
            <a:off x="303195" y="786548"/>
            <a:ext cx="8590547" cy="5826008"/>
          </a:xfrm>
        </p:spPr>
        <p:txBody>
          <a:bodyPr>
            <a:normAutofit fontScale="85000" lnSpcReduction="20000"/>
          </a:bodyPr>
          <a:lstStyle/>
          <a:p>
            <a:pPr marL="0" indent="0" algn="just" fontAlgn="base">
              <a:buNone/>
            </a:pPr>
            <a:r>
              <a:rPr lang="en-US" dirty="0"/>
              <a:t>Some disadvantages are:</a:t>
            </a:r>
          </a:p>
          <a:p>
            <a:pPr marL="0" indent="0" algn="just" fontAlgn="base">
              <a:buNone/>
            </a:pPr>
            <a:r>
              <a:rPr lang="en-US" b="1" dirty="0"/>
              <a:t>Internet Dependency:</a:t>
            </a:r>
            <a:r>
              <a:rPr lang="en-US" dirty="0"/>
              <a:t> Requires a stable connection; network issues or low bandwidth slow down backup and recovery.</a:t>
            </a:r>
          </a:p>
          <a:p>
            <a:pPr marL="0" indent="0" algn="just" fontAlgn="base">
              <a:buNone/>
            </a:pPr>
            <a:r>
              <a:rPr lang="en-US" b="1" dirty="0"/>
              <a:t>Data Security:</a:t>
            </a:r>
            <a:r>
              <a:rPr lang="en-US" dirty="0"/>
              <a:t> Privacy and compliance risks exist; strong encryption, access control, and authentication are essential.</a:t>
            </a:r>
          </a:p>
          <a:p>
            <a:pPr marL="0" indent="0" algn="just" fontAlgn="base">
              <a:buNone/>
            </a:pPr>
            <a:r>
              <a:rPr lang="en-US" b="1" dirty="0"/>
              <a:t>Vendor Reliability:</a:t>
            </a:r>
            <a:r>
              <a:rPr lang="en-US" dirty="0"/>
              <a:t> Dependence on the provider’s availability and trustworthiness; vendor failure can impact data recovery.</a:t>
            </a:r>
          </a:p>
          <a:p>
            <a:pPr marL="0" indent="0" algn="just" fontAlgn="base">
              <a:buNone/>
            </a:pPr>
            <a:r>
              <a:rPr lang="en-US" b="1" dirty="0"/>
              <a:t>Data Transfer Speed:</a:t>
            </a:r>
            <a:r>
              <a:rPr lang="en-US" dirty="0"/>
              <a:t> Uploading large datasets can be slow, especially with limited bandwidth.</a:t>
            </a:r>
          </a:p>
          <a:p>
            <a:pPr marL="0" indent="0" algn="just" fontAlgn="base">
              <a:buNone/>
            </a:pPr>
            <a:r>
              <a:rPr lang="en-US" b="1" dirty="0"/>
              <a:t>Loss of Control:</a:t>
            </a:r>
            <a:r>
              <a:rPr lang="en-US" dirty="0"/>
              <a:t> Storing data in the cloud reduces direct ownership and may limit retention policy control.</a:t>
            </a:r>
          </a:p>
          <a:p>
            <a:pPr marL="0" indent="0" algn="just" fontAlgn="base">
              <a:buNone/>
            </a:pPr>
            <a:r>
              <a:rPr lang="en-US" b="1" dirty="0"/>
              <a:t>Rising Costs:</a:t>
            </a:r>
            <a:r>
              <a:rPr lang="en-US" dirty="0"/>
              <a:t> Increasing data volume leads to higher long-term costs; regular cost monitoring is necessary.</a:t>
            </a:r>
          </a:p>
          <a:p>
            <a:pPr marL="0" indent="0" algn="just">
              <a:buNone/>
            </a:pPr>
            <a:endParaRPr lang="en-IN" dirty="0"/>
          </a:p>
        </p:txBody>
      </p:sp>
    </p:spTree>
    <p:extLst>
      <p:ext uri="{BB962C8B-B14F-4D97-AF65-F5344CB8AC3E}">
        <p14:creationId xmlns:p14="http://schemas.microsoft.com/office/powerpoint/2010/main" val="15551991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332656"/>
            <a:ext cx="8276779" cy="6346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40607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4664"/>
            <a:ext cx="9324528" cy="6264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74494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744"/>
            <a:ext cx="8229600" cy="678263"/>
          </a:xfrm>
        </p:spPr>
        <p:txBody>
          <a:bodyPr>
            <a:normAutofit fontScale="90000"/>
          </a:bodyPr>
          <a:lstStyle/>
          <a:p>
            <a:r>
              <a:rPr lang="en-US" b="1" dirty="0"/>
              <a:t>Remember Level Questions (25</a:t>
            </a:r>
            <a:r>
              <a:rPr lang="en-US" b="1" dirty="0" smtClean="0"/>
              <a:t>)</a:t>
            </a:r>
            <a:endParaRPr lang="en-IN" dirty="0"/>
          </a:p>
        </p:txBody>
      </p:sp>
      <p:sp>
        <p:nvSpPr>
          <p:cNvPr id="3" name="Content Placeholder 2"/>
          <p:cNvSpPr>
            <a:spLocks noGrp="1"/>
          </p:cNvSpPr>
          <p:nvPr>
            <p:ph idx="1"/>
          </p:nvPr>
        </p:nvSpPr>
        <p:spPr>
          <a:xfrm>
            <a:off x="389823" y="300803"/>
            <a:ext cx="8229600" cy="4525963"/>
          </a:xfrm>
        </p:spPr>
        <p:txBody>
          <a:bodyPr>
            <a:noAutofit/>
          </a:bodyPr>
          <a:lstStyle/>
          <a:p>
            <a:pPr marL="0" indent="0">
              <a:buNone/>
            </a:pPr>
            <a:r>
              <a:rPr lang="en-US" sz="1400" dirty="0" smtClean="0"/>
              <a:t>Define </a:t>
            </a:r>
            <a:r>
              <a:rPr lang="en-US" sz="1400" b="1" dirty="0"/>
              <a:t>Object Storage</a:t>
            </a:r>
            <a:r>
              <a:rPr lang="en-US" sz="1400" dirty="0"/>
              <a:t> in cloud computing.</a:t>
            </a:r>
          </a:p>
          <a:p>
            <a:pPr marL="0" indent="0">
              <a:buNone/>
            </a:pPr>
            <a:r>
              <a:rPr lang="en-US" sz="1400" dirty="0"/>
              <a:t>Define </a:t>
            </a:r>
            <a:r>
              <a:rPr lang="en-US" sz="1400" b="1" dirty="0"/>
              <a:t>Block Storage</a:t>
            </a:r>
            <a:r>
              <a:rPr lang="en-US" sz="1400" dirty="0"/>
              <a:t> in cloud computing.</a:t>
            </a:r>
          </a:p>
          <a:p>
            <a:pPr marL="0" indent="0">
              <a:buNone/>
            </a:pPr>
            <a:r>
              <a:rPr lang="en-US" sz="1400" dirty="0"/>
              <a:t>List any </a:t>
            </a:r>
            <a:r>
              <a:rPr lang="en-US" sz="1400" b="1" dirty="0"/>
              <a:t>two examples of Object Storage services</a:t>
            </a:r>
            <a:r>
              <a:rPr lang="en-US" sz="1400" dirty="0"/>
              <a:t>.</a:t>
            </a:r>
          </a:p>
          <a:p>
            <a:pPr marL="0" indent="0">
              <a:buNone/>
            </a:pPr>
            <a:r>
              <a:rPr lang="en-US" sz="1400" dirty="0"/>
              <a:t>List any </a:t>
            </a:r>
            <a:r>
              <a:rPr lang="en-US" sz="1400" b="1" dirty="0"/>
              <a:t>two examples of Block Storage services</a:t>
            </a:r>
            <a:r>
              <a:rPr lang="en-US" sz="1400" dirty="0"/>
              <a:t>.</a:t>
            </a:r>
          </a:p>
          <a:p>
            <a:pPr marL="0" indent="0">
              <a:buNone/>
            </a:pPr>
            <a:r>
              <a:rPr lang="en-US" sz="1400" dirty="0"/>
              <a:t>What is </a:t>
            </a:r>
            <a:r>
              <a:rPr lang="en-US" sz="1400" b="1" dirty="0"/>
              <a:t>Amazon S3</a:t>
            </a:r>
            <a:r>
              <a:rPr lang="en-US" sz="1400" dirty="0"/>
              <a:t>?</a:t>
            </a:r>
          </a:p>
          <a:p>
            <a:pPr marL="0" indent="0">
              <a:buNone/>
            </a:pPr>
            <a:r>
              <a:rPr lang="en-US" sz="1400" dirty="0"/>
              <a:t>What is </a:t>
            </a:r>
            <a:r>
              <a:rPr lang="en-US" sz="1400" b="1" dirty="0"/>
              <a:t>Google Cloud Storage</a:t>
            </a:r>
            <a:r>
              <a:rPr lang="en-US" sz="1400" dirty="0"/>
              <a:t>?</a:t>
            </a:r>
          </a:p>
          <a:p>
            <a:pPr marL="0" indent="0">
              <a:buNone/>
            </a:pPr>
            <a:r>
              <a:rPr lang="en-US" sz="1400" dirty="0"/>
              <a:t>What is </a:t>
            </a:r>
            <a:r>
              <a:rPr lang="en-US" sz="1400" b="1" dirty="0"/>
              <a:t>Amazon Elastic Block Store (EBS)</a:t>
            </a:r>
            <a:r>
              <a:rPr lang="en-US" sz="1400" dirty="0"/>
              <a:t>?</a:t>
            </a:r>
          </a:p>
          <a:p>
            <a:pPr marL="0" indent="0">
              <a:buNone/>
            </a:pPr>
            <a:r>
              <a:rPr lang="en-US" sz="1400" dirty="0"/>
              <a:t>What is </a:t>
            </a:r>
            <a:r>
              <a:rPr lang="en-US" sz="1400" b="1" dirty="0"/>
              <a:t>Azure Disk Storage</a:t>
            </a:r>
            <a:r>
              <a:rPr lang="en-US" sz="1400" dirty="0"/>
              <a:t>?</a:t>
            </a:r>
          </a:p>
          <a:p>
            <a:pPr marL="0" indent="0">
              <a:buNone/>
            </a:pPr>
            <a:r>
              <a:rPr lang="en-US" sz="1400" dirty="0"/>
              <a:t>State any </a:t>
            </a:r>
            <a:r>
              <a:rPr lang="en-US" sz="1400" b="1" dirty="0"/>
              <a:t>two differences between Object Storage and Block Storage</a:t>
            </a:r>
            <a:r>
              <a:rPr lang="en-US" sz="1400" dirty="0"/>
              <a:t>.</a:t>
            </a:r>
          </a:p>
          <a:p>
            <a:pPr marL="0" indent="0">
              <a:buNone/>
            </a:pPr>
            <a:r>
              <a:rPr lang="en-US" sz="1400" dirty="0"/>
              <a:t>What is a </a:t>
            </a:r>
            <a:r>
              <a:rPr lang="en-US" sz="1400" b="1" dirty="0"/>
              <a:t>bucket in object storage</a:t>
            </a:r>
            <a:r>
              <a:rPr lang="en-US" sz="1400" dirty="0"/>
              <a:t>?</a:t>
            </a:r>
          </a:p>
          <a:p>
            <a:pPr marL="0" indent="0">
              <a:buNone/>
            </a:pPr>
            <a:r>
              <a:rPr lang="en-US" sz="1400" dirty="0"/>
              <a:t>What is meant by </a:t>
            </a:r>
            <a:r>
              <a:rPr lang="en-US" sz="1400" b="1" dirty="0"/>
              <a:t>data retrieval in cloud storage</a:t>
            </a:r>
            <a:r>
              <a:rPr lang="en-US" sz="1400" dirty="0"/>
              <a:t>?</a:t>
            </a:r>
          </a:p>
          <a:p>
            <a:pPr marL="0" indent="0">
              <a:buNone/>
            </a:pPr>
            <a:r>
              <a:rPr lang="en-US" sz="1400" dirty="0"/>
              <a:t>List the </a:t>
            </a:r>
            <a:r>
              <a:rPr lang="en-US" sz="1400" b="1" dirty="0"/>
              <a:t>steps involved in uploading files to cloud storage</a:t>
            </a:r>
            <a:r>
              <a:rPr lang="en-US" sz="1400" dirty="0"/>
              <a:t>.</a:t>
            </a:r>
          </a:p>
          <a:p>
            <a:pPr marL="0" indent="0">
              <a:buNone/>
            </a:pPr>
            <a:r>
              <a:rPr lang="en-US" sz="1400" dirty="0"/>
              <a:t>What is a </a:t>
            </a:r>
            <a:r>
              <a:rPr lang="en-US" sz="1400" b="1" dirty="0"/>
              <a:t>backup in cloud computing</a:t>
            </a:r>
            <a:r>
              <a:rPr lang="en-US" sz="1400" dirty="0"/>
              <a:t>?</a:t>
            </a:r>
          </a:p>
          <a:p>
            <a:pPr marL="0" indent="0">
              <a:buNone/>
            </a:pPr>
            <a:r>
              <a:rPr lang="en-US" sz="1400" dirty="0"/>
              <a:t>State the </a:t>
            </a:r>
            <a:r>
              <a:rPr lang="en-US" sz="1400" b="1" dirty="0"/>
              <a:t>importance of data backup</a:t>
            </a:r>
            <a:r>
              <a:rPr lang="en-US" sz="1400" dirty="0"/>
              <a:t> in cloud systems.</a:t>
            </a:r>
          </a:p>
          <a:p>
            <a:pPr marL="0" indent="0">
              <a:buNone/>
            </a:pPr>
            <a:r>
              <a:rPr lang="en-US" sz="1400" dirty="0"/>
              <a:t>What is </a:t>
            </a:r>
            <a:r>
              <a:rPr lang="en-US" sz="1400" b="1" dirty="0"/>
              <a:t>disaster recovery</a:t>
            </a:r>
            <a:r>
              <a:rPr lang="en-US" sz="1400" dirty="0"/>
              <a:t>?</a:t>
            </a:r>
          </a:p>
          <a:p>
            <a:pPr marL="0" indent="0">
              <a:buNone/>
            </a:pPr>
            <a:r>
              <a:rPr lang="en-US" sz="1400" dirty="0"/>
              <a:t>Define </a:t>
            </a:r>
            <a:r>
              <a:rPr lang="en-US" sz="1400" b="1" dirty="0"/>
              <a:t>cloud-native disaster recovery</a:t>
            </a:r>
            <a:r>
              <a:rPr lang="en-US" sz="1400" dirty="0"/>
              <a:t>.</a:t>
            </a:r>
          </a:p>
          <a:p>
            <a:pPr marL="0" indent="0">
              <a:buNone/>
            </a:pPr>
            <a:r>
              <a:rPr lang="en-US" sz="1400" dirty="0"/>
              <a:t>List </a:t>
            </a:r>
            <a:r>
              <a:rPr lang="en-US" sz="1400" b="1" dirty="0"/>
              <a:t>two advantages of cloud backups</a:t>
            </a:r>
            <a:r>
              <a:rPr lang="en-US" sz="1400" dirty="0"/>
              <a:t>.</a:t>
            </a:r>
          </a:p>
          <a:p>
            <a:pPr marL="0" indent="0">
              <a:buNone/>
            </a:pPr>
            <a:r>
              <a:rPr lang="en-US" sz="1400" dirty="0"/>
              <a:t>What is </a:t>
            </a:r>
            <a:r>
              <a:rPr lang="en-US" sz="1400" b="1" dirty="0"/>
              <a:t>data redundancy</a:t>
            </a:r>
            <a:r>
              <a:rPr lang="en-US" sz="1400" dirty="0"/>
              <a:t> in cloud storage?</a:t>
            </a:r>
          </a:p>
          <a:p>
            <a:pPr marL="0" indent="0">
              <a:buNone/>
            </a:pPr>
            <a:r>
              <a:rPr lang="en-US" sz="1400" dirty="0"/>
              <a:t>What is </a:t>
            </a:r>
            <a:r>
              <a:rPr lang="en-US" sz="1400" b="1" dirty="0"/>
              <a:t>versioning in cloud storage</a:t>
            </a:r>
            <a:r>
              <a:rPr lang="en-US" sz="1400" dirty="0"/>
              <a:t>?</a:t>
            </a:r>
          </a:p>
          <a:p>
            <a:pPr marL="0" indent="0">
              <a:buNone/>
            </a:pPr>
            <a:r>
              <a:rPr lang="en-US" sz="1400" dirty="0"/>
              <a:t>What is </a:t>
            </a:r>
            <a:r>
              <a:rPr lang="en-US" sz="1400" b="1" dirty="0"/>
              <a:t>replication in cloud storage</a:t>
            </a:r>
            <a:r>
              <a:rPr lang="en-US" sz="1400" dirty="0"/>
              <a:t>?</a:t>
            </a:r>
          </a:p>
          <a:p>
            <a:pPr marL="0" indent="0">
              <a:buNone/>
            </a:pPr>
            <a:r>
              <a:rPr lang="en-US" sz="1400" dirty="0"/>
              <a:t>What is the purpose of </a:t>
            </a:r>
            <a:r>
              <a:rPr lang="en-US" sz="1400" b="1" dirty="0"/>
              <a:t>data retrieval mechanisms</a:t>
            </a:r>
            <a:r>
              <a:rPr lang="en-US" sz="1400" dirty="0"/>
              <a:t> in cloud systems?</a:t>
            </a:r>
          </a:p>
          <a:p>
            <a:pPr marL="0" indent="0">
              <a:buNone/>
            </a:pPr>
            <a:r>
              <a:rPr lang="en-US" sz="1400" dirty="0"/>
              <a:t>List </a:t>
            </a:r>
            <a:r>
              <a:rPr lang="en-US" sz="1400" b="1" dirty="0"/>
              <a:t>two types of backup used in cloud systems</a:t>
            </a:r>
            <a:r>
              <a:rPr lang="en-US" sz="1400" dirty="0"/>
              <a:t>.</a:t>
            </a:r>
          </a:p>
          <a:p>
            <a:pPr marL="0" indent="0">
              <a:buNone/>
            </a:pPr>
            <a:r>
              <a:rPr lang="en-US" sz="1400" dirty="0"/>
              <a:t>What is meant by </a:t>
            </a:r>
            <a:r>
              <a:rPr lang="en-US" sz="1400" b="1" dirty="0"/>
              <a:t>cloud storage scalability</a:t>
            </a:r>
            <a:r>
              <a:rPr lang="en-US" sz="1400" dirty="0"/>
              <a:t>?</a:t>
            </a:r>
          </a:p>
          <a:p>
            <a:pPr marL="0" indent="0">
              <a:buNone/>
            </a:pPr>
            <a:r>
              <a:rPr lang="en-US" sz="1400" dirty="0"/>
              <a:t>Define </a:t>
            </a:r>
            <a:r>
              <a:rPr lang="en-US" sz="1400" b="1" dirty="0"/>
              <a:t>data durability</a:t>
            </a:r>
            <a:r>
              <a:rPr lang="en-US" sz="1400" dirty="0"/>
              <a:t> in cloud computing.</a:t>
            </a:r>
          </a:p>
          <a:p>
            <a:pPr marL="0" indent="0">
              <a:buNone/>
            </a:pPr>
            <a:r>
              <a:rPr lang="en-US" sz="1400" dirty="0"/>
              <a:t>State the </a:t>
            </a:r>
            <a:r>
              <a:rPr lang="en-US" sz="1400" b="1" dirty="0"/>
              <a:t>role of cloud storage in disaster recovery</a:t>
            </a:r>
            <a:r>
              <a:rPr lang="en-US" sz="1400" dirty="0"/>
              <a:t>.</a:t>
            </a:r>
          </a:p>
          <a:p>
            <a:pPr marL="0" indent="0">
              <a:buNone/>
            </a:pPr>
            <a:endParaRPr lang="en-IN" sz="1400" dirty="0"/>
          </a:p>
        </p:txBody>
      </p:sp>
    </p:spTree>
    <p:extLst>
      <p:ext uri="{BB962C8B-B14F-4D97-AF65-F5344CB8AC3E}">
        <p14:creationId xmlns:p14="http://schemas.microsoft.com/office/powerpoint/2010/main" val="30850662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16764"/>
          </a:xfrm>
        </p:spPr>
        <p:txBody>
          <a:bodyPr>
            <a:normAutofit fontScale="90000"/>
          </a:bodyPr>
          <a:lstStyle/>
          <a:p>
            <a:r>
              <a:rPr lang="en-IN" dirty="0"/>
              <a:t>Application Level Questions (25)</a:t>
            </a:r>
          </a:p>
        </p:txBody>
      </p:sp>
      <p:sp>
        <p:nvSpPr>
          <p:cNvPr id="3" name="Content Placeholder 2"/>
          <p:cNvSpPr>
            <a:spLocks noGrp="1"/>
          </p:cNvSpPr>
          <p:nvPr>
            <p:ph idx="1"/>
          </p:nvPr>
        </p:nvSpPr>
        <p:spPr>
          <a:xfrm>
            <a:off x="457200" y="738421"/>
            <a:ext cx="8229600" cy="4525963"/>
          </a:xfrm>
        </p:spPr>
        <p:txBody>
          <a:bodyPr>
            <a:noAutofit/>
          </a:bodyPr>
          <a:lstStyle/>
          <a:p>
            <a:r>
              <a:rPr lang="en-US" sz="1400" b="1" dirty="0"/>
              <a:t>Apply object storage</a:t>
            </a:r>
            <a:r>
              <a:rPr lang="en-US" sz="1400" dirty="0"/>
              <a:t> to store multimedia files for a video streaming platform.</a:t>
            </a:r>
          </a:p>
          <a:p>
            <a:r>
              <a:rPr lang="en-US" sz="1400" b="1" dirty="0"/>
              <a:t>Use AWS S3</a:t>
            </a:r>
            <a:r>
              <a:rPr lang="en-US" sz="1400" dirty="0"/>
              <a:t> to upload and retrieve student assignment files in an online learning system.</a:t>
            </a:r>
          </a:p>
          <a:p>
            <a:r>
              <a:rPr lang="en-US" sz="1400" b="1" dirty="0"/>
              <a:t>Demonstrate how block storage</a:t>
            </a:r>
            <a:r>
              <a:rPr lang="en-US" sz="1400" dirty="0"/>
              <a:t> can be attached to a virtual machine.</a:t>
            </a:r>
          </a:p>
          <a:p>
            <a:r>
              <a:rPr lang="en-US" sz="1400" b="1" dirty="0"/>
              <a:t>Illustrate the process</a:t>
            </a:r>
            <a:r>
              <a:rPr lang="en-US" sz="1400" dirty="0"/>
              <a:t> of uploading data to cloud storage using a diagram.</a:t>
            </a:r>
          </a:p>
          <a:p>
            <a:r>
              <a:rPr lang="en-US" sz="1400" b="1" dirty="0"/>
              <a:t>Apply cloud backup techniques</a:t>
            </a:r>
            <a:r>
              <a:rPr lang="en-US" sz="1400" dirty="0"/>
              <a:t> to protect organizational data from accidental deletion.</a:t>
            </a:r>
          </a:p>
          <a:p>
            <a:r>
              <a:rPr lang="en-US" sz="1400" b="1" dirty="0"/>
              <a:t>Show how Google Cloud Storage</a:t>
            </a:r>
            <a:r>
              <a:rPr lang="en-US" sz="1400" dirty="0"/>
              <a:t> can be used to host website static files.</a:t>
            </a:r>
          </a:p>
          <a:p>
            <a:r>
              <a:rPr lang="en-US" sz="1400" b="1" dirty="0"/>
              <a:t>Operate a cloud storage service</a:t>
            </a:r>
            <a:r>
              <a:rPr lang="en-US" sz="1400" dirty="0"/>
              <a:t> to upload large datasets.</a:t>
            </a:r>
          </a:p>
          <a:p>
            <a:r>
              <a:rPr lang="en-US" sz="1400" b="1" dirty="0"/>
              <a:t>Demonstrate data retrieval</a:t>
            </a:r>
            <a:r>
              <a:rPr lang="en-US" sz="1400" dirty="0"/>
              <a:t> from a cloud storage bucket.</a:t>
            </a:r>
          </a:p>
          <a:p>
            <a:r>
              <a:rPr lang="en-US" sz="1400" b="1" dirty="0"/>
              <a:t>Use block storage</a:t>
            </a:r>
            <a:r>
              <a:rPr lang="en-US" sz="1400" dirty="0"/>
              <a:t> for database hosting in a cloud environment.</a:t>
            </a:r>
          </a:p>
          <a:p>
            <a:r>
              <a:rPr lang="en-US" sz="1400" b="1" dirty="0"/>
              <a:t>Illustrate the architecture</a:t>
            </a:r>
            <a:r>
              <a:rPr lang="en-US" sz="1400" dirty="0"/>
              <a:t> of object storage with a neat diagram.</a:t>
            </a:r>
          </a:p>
          <a:p>
            <a:r>
              <a:rPr lang="en-US" sz="1400" b="1" dirty="0"/>
              <a:t>Apply disaster recovery solutions</a:t>
            </a:r>
            <a:r>
              <a:rPr lang="en-US" sz="1400" dirty="0"/>
              <a:t> to restore a failed cloud application.</a:t>
            </a:r>
          </a:p>
          <a:p>
            <a:r>
              <a:rPr lang="en-US" sz="1400" b="1" dirty="0"/>
              <a:t>Demonstrate how automated backups</a:t>
            </a:r>
            <a:r>
              <a:rPr lang="en-US" sz="1400" dirty="0"/>
              <a:t> improve system reliability.</a:t>
            </a:r>
          </a:p>
          <a:p>
            <a:r>
              <a:rPr lang="en-US" sz="1400" b="1" dirty="0"/>
              <a:t>Schedule regular backups</a:t>
            </a:r>
            <a:r>
              <a:rPr lang="en-US" sz="1400" dirty="0"/>
              <a:t> for a company’s cloud-based database.</a:t>
            </a:r>
          </a:p>
          <a:p>
            <a:r>
              <a:rPr lang="en-US" sz="1400" b="1" dirty="0"/>
              <a:t>Use replication mechanisms</a:t>
            </a:r>
            <a:r>
              <a:rPr lang="en-US" sz="1400" dirty="0"/>
              <a:t> to protect cloud data.</a:t>
            </a:r>
          </a:p>
          <a:p>
            <a:r>
              <a:rPr lang="en-US" sz="1400" b="1" dirty="0"/>
              <a:t>Predict the impact of data loss</a:t>
            </a:r>
            <a:r>
              <a:rPr lang="en-US" sz="1400" dirty="0"/>
              <a:t> if backups are not maintained in cloud systems.</a:t>
            </a:r>
          </a:p>
          <a:p>
            <a:r>
              <a:rPr lang="en-US" sz="1400" b="1" dirty="0"/>
              <a:t>Illustrate how versioning</a:t>
            </a:r>
            <a:r>
              <a:rPr lang="en-US" sz="1400" dirty="0"/>
              <a:t> helps recover deleted files.</a:t>
            </a:r>
          </a:p>
          <a:p>
            <a:r>
              <a:rPr lang="en-US" sz="1400" b="1" dirty="0"/>
              <a:t>Operate a cloud platform</a:t>
            </a:r>
            <a:r>
              <a:rPr lang="en-US" sz="1400" dirty="0"/>
              <a:t> to retrieve stored files after a system failure.</a:t>
            </a:r>
          </a:p>
          <a:p>
            <a:r>
              <a:rPr lang="en-US" sz="1400" b="1" dirty="0"/>
              <a:t>Apply cloud storage security measures</a:t>
            </a:r>
            <a:r>
              <a:rPr lang="en-US" sz="1400" dirty="0"/>
              <a:t> to protect sensitive data.</a:t>
            </a:r>
          </a:p>
          <a:p>
            <a:r>
              <a:rPr lang="en-US" sz="1400" b="1" dirty="0"/>
              <a:t>Demonstrate the steps</a:t>
            </a:r>
            <a:r>
              <a:rPr lang="en-US" sz="1400" dirty="0"/>
              <a:t> to recover data from a backup.</a:t>
            </a:r>
          </a:p>
          <a:p>
            <a:r>
              <a:rPr lang="en-US" sz="1400" b="1" dirty="0"/>
              <a:t>Use disaster recovery strategies</a:t>
            </a:r>
            <a:r>
              <a:rPr lang="en-US" sz="1400" dirty="0"/>
              <a:t> to restore services after a cloud outage.</a:t>
            </a:r>
          </a:p>
          <a:p>
            <a:r>
              <a:rPr lang="en-US" sz="1400" b="1" dirty="0"/>
              <a:t>Relate object storage with data archiving applications</a:t>
            </a:r>
            <a:r>
              <a:rPr lang="en-US" sz="1400" dirty="0"/>
              <a:t>.</a:t>
            </a:r>
          </a:p>
          <a:p>
            <a:r>
              <a:rPr lang="en-US" sz="1400" b="1" dirty="0"/>
              <a:t>Sketch the architecture of cloud storage backup systems</a:t>
            </a:r>
            <a:r>
              <a:rPr lang="en-US" sz="1400" dirty="0"/>
              <a:t>.</a:t>
            </a:r>
          </a:p>
          <a:p>
            <a:r>
              <a:rPr lang="en-US" sz="1400" b="1" dirty="0"/>
              <a:t>Apply automated disaster recovery tools</a:t>
            </a:r>
            <a:r>
              <a:rPr lang="en-US" sz="1400" dirty="0"/>
              <a:t> in a cloud environment.</a:t>
            </a:r>
          </a:p>
          <a:p>
            <a:r>
              <a:rPr lang="en-US" sz="1400" b="1" dirty="0"/>
              <a:t>Demonstrate how block storage improves performance</a:t>
            </a:r>
            <a:r>
              <a:rPr lang="en-US" sz="1400" dirty="0"/>
              <a:t> of enterprise applications.</a:t>
            </a:r>
          </a:p>
          <a:p>
            <a:r>
              <a:rPr lang="en-US" sz="1400" b="1" dirty="0"/>
              <a:t>Prepare a cloud backup plan</a:t>
            </a:r>
            <a:r>
              <a:rPr lang="en-US" sz="1400" dirty="0"/>
              <a:t> for a small organization.</a:t>
            </a:r>
          </a:p>
          <a:p>
            <a:endParaRPr lang="en-IN" sz="1400" dirty="0"/>
          </a:p>
        </p:txBody>
      </p:sp>
    </p:spTree>
    <p:extLst>
      <p:ext uri="{BB962C8B-B14F-4D97-AF65-F5344CB8AC3E}">
        <p14:creationId xmlns:p14="http://schemas.microsoft.com/office/powerpoint/2010/main" val="1414106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296667" y="2308352"/>
            <a:ext cx="4937759" cy="944880"/>
          </a:xfrm>
          <a:prstGeom prst="rect">
            <a:avLst/>
          </a:prstGeom>
        </p:spPr>
      </p:pic>
      <p:sp>
        <p:nvSpPr>
          <p:cNvPr id="5" name="object 5"/>
          <p:cNvSpPr txBox="1"/>
          <p:nvPr/>
        </p:nvSpPr>
        <p:spPr>
          <a:xfrm>
            <a:off x="8427212" y="6440356"/>
            <a:ext cx="180975" cy="153888"/>
          </a:xfrm>
          <a:prstGeom prst="rect">
            <a:avLst/>
          </a:prstGeom>
        </p:spPr>
        <p:txBody>
          <a:bodyPr vert="horz" wrap="square" lIns="0" tIns="0" rIns="0" bIns="0" rtlCol="0">
            <a:spAutoFit/>
          </a:bodyPr>
          <a:lstStyle/>
          <a:p>
            <a:pPr marL="12700">
              <a:lnSpc>
                <a:spcPts val="1240"/>
              </a:lnSpc>
            </a:pPr>
            <a:r>
              <a:rPr sz="1200" spc="-25" dirty="0">
                <a:solidFill>
                  <a:srgbClr val="888888"/>
                </a:solidFill>
                <a:latin typeface="Calibri"/>
                <a:cs typeface="Calibri"/>
              </a:rPr>
              <a:t>23</a:t>
            </a:r>
            <a:endParaRPr sz="1200">
              <a:latin typeface="Calibri"/>
              <a:cs typeface="Calibri"/>
            </a:endParaRPr>
          </a:p>
        </p:txBody>
      </p:sp>
    </p:spTree>
    <p:extLst>
      <p:ext uri="{BB962C8B-B14F-4D97-AF65-F5344CB8AC3E}">
        <p14:creationId xmlns:p14="http://schemas.microsoft.com/office/powerpoint/2010/main" val="1947368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1051</TotalTime>
  <Words>1859</Words>
  <Application>Microsoft Office PowerPoint</Application>
  <PresentationFormat>On-screen Show (4:3)</PresentationFormat>
  <Paragraphs>281</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Unit III</vt:lpstr>
      <vt:lpstr>Cloud Storage Types</vt:lpstr>
      <vt:lpstr>Introduction to Cloud Storage</vt:lpstr>
      <vt:lpstr>Object Storage</vt:lpstr>
      <vt:lpstr>Examples of Object Storage</vt:lpstr>
      <vt:lpstr>Advantages of Object Storage</vt:lpstr>
      <vt:lpstr>Block Storage</vt:lpstr>
      <vt:lpstr>Examples of Block Storage</vt:lpstr>
      <vt:lpstr>Advantages of Block Storage</vt:lpstr>
      <vt:lpstr>Object Storage vs Block Storage</vt:lpstr>
      <vt:lpstr>Azure Storage Services</vt:lpstr>
      <vt:lpstr>Azure Storage Tiers</vt:lpstr>
      <vt:lpstr>Conclusion</vt:lpstr>
      <vt:lpstr>What is Data Backup and Disaster Recovery?</vt:lpstr>
      <vt:lpstr>What is Backup?</vt:lpstr>
      <vt:lpstr>Data Backup and Recovery Plan</vt:lpstr>
      <vt:lpstr>Types of Backup Media</vt:lpstr>
      <vt:lpstr>Factors in Choosing Backup Media</vt:lpstr>
      <vt:lpstr>Data Backup Security</vt:lpstr>
      <vt:lpstr>Disaster Recovery</vt:lpstr>
      <vt:lpstr>Disaster Recovery Strategies</vt:lpstr>
      <vt:lpstr>Disaster Recovery Strategies (cont’d)</vt:lpstr>
      <vt:lpstr>Disaster Recovery Strategies (cont’d)</vt:lpstr>
      <vt:lpstr>Step-by-Step Process</vt:lpstr>
      <vt:lpstr>Step-by-Step Process</vt:lpstr>
      <vt:lpstr>Step-by-Step Process</vt:lpstr>
      <vt:lpstr>Step-by-Step Process</vt:lpstr>
      <vt:lpstr>Process Flow</vt:lpstr>
      <vt:lpstr>Real-world examples</vt:lpstr>
      <vt:lpstr>Why Use Data Backup and Recovery? (Advantages)</vt:lpstr>
      <vt:lpstr>Why Use Data Backup and Recovery? (Advantages)</vt:lpstr>
      <vt:lpstr>Disadvantages</vt:lpstr>
      <vt:lpstr>PowerPoint Presentation</vt:lpstr>
      <vt:lpstr>PowerPoint Presentation</vt:lpstr>
      <vt:lpstr>Remember Level Questions (25)</vt:lpstr>
      <vt:lpstr>Application Level Questions (25)</vt:lpstr>
      <vt:lpstr>PowerPoint Presentation</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Storage Types</dc:title>
  <dc:creator>MSBTE-NAGPUR</dc:creator>
  <dc:description>generated using python-pptx</dc:description>
  <cp:lastModifiedBy>MSBTE-NAGPUR</cp:lastModifiedBy>
  <cp:revision>17</cp:revision>
  <dcterms:created xsi:type="dcterms:W3CDTF">2013-01-27T09:14:16Z</dcterms:created>
  <dcterms:modified xsi:type="dcterms:W3CDTF">2026-03-16T03:19:43Z</dcterms:modified>
</cp:coreProperties>
</file>